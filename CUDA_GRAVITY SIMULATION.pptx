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 id="214748370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ed Hat Display SemiBold"/>
      <p:regular r:id="rId33"/>
      <p:bold r:id="rId34"/>
      <p:italic r:id="rId35"/>
      <p:boldItalic r:id="rId36"/>
    </p:embeddedFont>
    <p:embeddedFont>
      <p:font typeface="Lato"/>
      <p:regular r:id="rId37"/>
      <p:bold r:id="rId38"/>
      <p:italic r:id="rId39"/>
      <p:boldItalic r:id="rId40"/>
    </p:embeddedFont>
    <p:embeddedFont>
      <p:font typeface="Red Hat Display Medium"/>
      <p:regular r:id="rId41"/>
      <p:bold r:id="rId42"/>
      <p:italic r:id="rId43"/>
      <p:boldItalic r:id="rId44"/>
    </p:embeddedFont>
    <p:embeddedFont>
      <p:font typeface="Red Hat Display"/>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20" Type="http://schemas.openxmlformats.org/officeDocument/2006/relationships/slide" Target="slides/slide14.xml"/><Relationship Id="rId42" Type="http://schemas.openxmlformats.org/officeDocument/2006/relationships/font" Target="fonts/RedHatDisplayMedium-bold.fntdata"/><Relationship Id="rId41" Type="http://schemas.openxmlformats.org/officeDocument/2006/relationships/font" Target="fonts/RedHatDisplayMedium-regular.fntdata"/><Relationship Id="rId22" Type="http://schemas.openxmlformats.org/officeDocument/2006/relationships/slide" Target="slides/slide16.xml"/><Relationship Id="rId44" Type="http://schemas.openxmlformats.org/officeDocument/2006/relationships/font" Target="fonts/RedHatDisplayMedium-boldItalic.fntdata"/><Relationship Id="rId21" Type="http://schemas.openxmlformats.org/officeDocument/2006/relationships/slide" Target="slides/slide15.xml"/><Relationship Id="rId43" Type="http://schemas.openxmlformats.org/officeDocument/2006/relationships/font" Target="fonts/RedHatDisplayMedium-italic.fntdata"/><Relationship Id="rId24" Type="http://schemas.openxmlformats.org/officeDocument/2006/relationships/slide" Target="slides/slide18.xml"/><Relationship Id="rId46" Type="http://schemas.openxmlformats.org/officeDocument/2006/relationships/font" Target="fonts/RedHatDisplay-bold.fntdata"/><Relationship Id="rId23" Type="http://schemas.openxmlformats.org/officeDocument/2006/relationships/slide" Target="slides/slide17.xml"/><Relationship Id="rId45" Type="http://schemas.openxmlformats.org/officeDocument/2006/relationships/font" Target="fonts/RedHatDisplay-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RedHatDisplay-boldItalic.fntdata"/><Relationship Id="rId25" Type="http://schemas.openxmlformats.org/officeDocument/2006/relationships/slide" Target="slides/slide19.xml"/><Relationship Id="rId47" Type="http://schemas.openxmlformats.org/officeDocument/2006/relationships/font" Target="fonts/RedHatDisplay-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edHatDisplaySemiBold-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edHatDisplaySemiBold-italic.fntdata"/><Relationship Id="rId12" Type="http://schemas.openxmlformats.org/officeDocument/2006/relationships/slide" Target="slides/slide6.xml"/><Relationship Id="rId34" Type="http://schemas.openxmlformats.org/officeDocument/2006/relationships/font" Target="fonts/RedHatDisplaySemiBold-bold.fntdata"/><Relationship Id="rId15" Type="http://schemas.openxmlformats.org/officeDocument/2006/relationships/slide" Target="slides/slide9.xml"/><Relationship Id="rId37" Type="http://schemas.openxmlformats.org/officeDocument/2006/relationships/font" Target="fonts/Lato-regular.fntdata"/><Relationship Id="rId14" Type="http://schemas.openxmlformats.org/officeDocument/2006/relationships/slide" Target="slides/slide8.xml"/><Relationship Id="rId36" Type="http://schemas.openxmlformats.org/officeDocument/2006/relationships/font" Target="fonts/RedHatDisplaySemiBold-boldItalic.fntdata"/><Relationship Id="rId17" Type="http://schemas.openxmlformats.org/officeDocument/2006/relationships/slide" Target="slides/slide11.xml"/><Relationship Id="rId39" Type="http://schemas.openxmlformats.org/officeDocument/2006/relationships/font" Target="fonts/Lato-italic.fntdata"/><Relationship Id="rId16" Type="http://schemas.openxmlformats.org/officeDocument/2006/relationships/slide" Target="slides/slide10.xml"/><Relationship Id="rId38" Type="http://schemas.openxmlformats.org/officeDocument/2006/relationships/font" Target="fonts/La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918a2b8308_0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918a2b8308_0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918a2b8308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918a2b8308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918a2b8308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918a2b8308_0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918a2b8308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918a2b8308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918a2b8308_5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918a2b8308_5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918a2b8308_0_1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918a2b8308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918a2b8308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918a2b8308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918a2b8308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918a2b8308_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918a2b8308_0_1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918a2b8308_0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918a2b8308_6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918a2b8308_6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918a2b8308_6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918a2b8308_6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918a2b8308_6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918a2b8308_6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918a2b8308_0_1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918a2b8308_0_1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918a2b8308_0_1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918a2b8308_0_1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918a2b8308_6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3918a2b8308_6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918a2b8308_6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918a2b8308_6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918a2b8308_0_1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918a2b8308_0_1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918a2b8308_6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918a2b8308_6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918a2b8308_6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918a2b8308_6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918a2b8308_6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918a2b8308_6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918a2b8308_6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918a2b8308_6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918a2b8308_6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3918a2b8308_6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918a2b8308_6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918a2b8308_6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918a2b8308_6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3918a2b8308_6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918a2b8308_0_1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3918a2b8308_0_1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918a2b8308_0_1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3918a2b8308_0_1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54" name="Shape 54"/>
        <p:cNvGrpSpPr/>
        <p:nvPr/>
      </p:nvGrpSpPr>
      <p:grpSpPr>
        <a:xfrm>
          <a:off x="0" y="0"/>
          <a:ext cx="0" cy="0"/>
          <a:chOff x="0" y="0"/>
          <a:chExt cx="0" cy="0"/>
        </a:xfrm>
      </p:grpSpPr>
      <p:sp>
        <p:nvSpPr>
          <p:cNvPr id="55" name="Google Shape;55;p14"/>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14"/>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14"/>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14"/>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14"/>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14"/>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14"/>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14"/>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14"/>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14"/>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14"/>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14"/>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14"/>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14"/>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14"/>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14"/>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71" name="Google Shape;71;p14"/>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72" name="Shape 72"/>
        <p:cNvGrpSpPr/>
        <p:nvPr/>
      </p:nvGrpSpPr>
      <p:grpSpPr>
        <a:xfrm>
          <a:off x="0" y="0"/>
          <a:ext cx="0" cy="0"/>
          <a:chOff x="0" y="0"/>
          <a:chExt cx="0" cy="0"/>
        </a:xfrm>
      </p:grpSpPr>
      <p:sp>
        <p:nvSpPr>
          <p:cNvPr id="73" name="Google Shape;73;p15"/>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15"/>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15"/>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6" name="Google Shape;76;p15"/>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7" name="Google Shape;77;p15"/>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8" name="Google Shape;78;p15"/>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9" name="Google Shape;79;p15"/>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0" name="Google Shape;80;p15"/>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1" name="Google Shape;81;p15"/>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2" name="Google Shape;82;p15"/>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15"/>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15"/>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15"/>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15"/>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15"/>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15"/>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9" name="Google Shape;89;p15"/>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5"/>
          <p:cNvSpPr/>
          <p:nvPr>
            <p:ph idx="2" type="pic"/>
          </p:nvPr>
        </p:nvSpPr>
        <p:spPr>
          <a:xfrm>
            <a:off x="3154650" y="3875225"/>
            <a:ext cx="618600" cy="808500"/>
          </a:xfrm>
          <a:prstGeom prst="snip2DiagRect">
            <a:avLst>
              <a:gd fmla="val 0" name="adj1"/>
              <a:gd fmla="val 34473" name="adj2"/>
            </a:avLst>
          </a:prstGeom>
          <a:noFill/>
          <a:ln>
            <a:noFill/>
          </a:ln>
        </p:spPr>
      </p:sp>
      <p:sp>
        <p:nvSpPr>
          <p:cNvPr id="91" name="Google Shape;91;p15"/>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92" name="Google Shape;92;p15"/>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93" name="Google Shape;93;p15"/>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94" name="Google Shape;94;p15"/>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95" name="Shape 95"/>
        <p:cNvGrpSpPr/>
        <p:nvPr/>
      </p:nvGrpSpPr>
      <p:grpSpPr>
        <a:xfrm>
          <a:off x="0" y="0"/>
          <a:ext cx="0" cy="0"/>
          <a:chOff x="0" y="0"/>
          <a:chExt cx="0" cy="0"/>
        </a:xfrm>
      </p:grpSpPr>
      <p:sp>
        <p:nvSpPr>
          <p:cNvPr id="96" name="Google Shape;96;p16"/>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16"/>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16"/>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16"/>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16"/>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16"/>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16"/>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16"/>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16"/>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16"/>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16"/>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16"/>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16"/>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16"/>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16"/>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16"/>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16"/>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16"/>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16"/>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16"/>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16"/>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16"/>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16"/>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16"/>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16"/>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121" name="Shape 121"/>
        <p:cNvGrpSpPr/>
        <p:nvPr/>
      </p:nvGrpSpPr>
      <p:grpSpPr>
        <a:xfrm>
          <a:off x="0" y="0"/>
          <a:ext cx="0" cy="0"/>
          <a:chOff x="0" y="0"/>
          <a:chExt cx="0" cy="0"/>
        </a:xfrm>
      </p:grpSpPr>
      <p:grpSp>
        <p:nvGrpSpPr>
          <p:cNvPr id="122" name="Google Shape;122;p17"/>
          <p:cNvGrpSpPr/>
          <p:nvPr/>
        </p:nvGrpSpPr>
        <p:grpSpPr>
          <a:xfrm>
            <a:off x="4895291" y="1377627"/>
            <a:ext cx="4091726" cy="3670806"/>
            <a:chOff x="5223565" y="1672200"/>
            <a:chExt cx="3763198" cy="3376074"/>
          </a:xfrm>
        </p:grpSpPr>
        <p:sp>
          <p:nvSpPr>
            <p:cNvPr id="123" name="Google Shape;123;p17"/>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17"/>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17"/>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17"/>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17"/>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17"/>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17"/>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17"/>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17"/>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17"/>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17"/>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17"/>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17"/>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17"/>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17"/>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17"/>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17"/>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17"/>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17"/>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17"/>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17"/>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17"/>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17"/>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17"/>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17"/>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17"/>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17"/>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0" name="Google Shape;150;p17"/>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1" name="Google Shape;151;p17"/>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17"/>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17"/>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4" name="Google Shape;154;p17"/>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5" name="Google Shape;155;p17"/>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17"/>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17"/>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17"/>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17"/>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17"/>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17"/>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17"/>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17"/>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17"/>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17"/>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17"/>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17"/>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17"/>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17"/>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17"/>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17"/>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17"/>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17"/>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17"/>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5" name="Google Shape;175;p17"/>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6" name="Google Shape;176;p17"/>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7" name="Google Shape;177;p17"/>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8" name="Google Shape;178;p17"/>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9" name="Google Shape;179;p17"/>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0" name="Google Shape;180;p17"/>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1" name="Google Shape;181;p17"/>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2" name="Google Shape;182;p17"/>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3" name="Google Shape;183;p17"/>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4" name="Google Shape;184;p17"/>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5" name="Google Shape;185;p17"/>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6" name="Google Shape;186;p17"/>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7" name="Google Shape;187;p17"/>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8" name="Google Shape;188;p17"/>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9" name="Google Shape;189;p17"/>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0" name="Google Shape;190;p17"/>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1" name="Google Shape;191;p17"/>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2" name="Google Shape;192;p17"/>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3" name="Google Shape;193;p17"/>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4" name="Google Shape;194;p17"/>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95" name="Google Shape;195;p17"/>
          <p:cNvGrpSpPr/>
          <p:nvPr/>
        </p:nvGrpSpPr>
        <p:grpSpPr>
          <a:xfrm>
            <a:off x="142078" y="79823"/>
            <a:ext cx="2140834" cy="1767927"/>
            <a:chOff x="142083" y="79814"/>
            <a:chExt cx="1831025" cy="1512212"/>
          </a:xfrm>
        </p:grpSpPr>
        <p:sp>
          <p:nvSpPr>
            <p:cNvPr id="196" name="Google Shape;196;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1" name="Google Shape;201;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2" name="Google Shape;202;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3" name="Google Shape;203;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4" name="Google Shape;204;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5" name="Google Shape;205;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6" name="Google Shape;206;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7" name="Google Shape;207;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8" name="Google Shape;208;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9" name="Google Shape;209;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0" name="Google Shape;210;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1" name="Google Shape;211;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2" name="Google Shape;212;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3" name="Google Shape;213;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4" name="Google Shape;214;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5" name="Google Shape;215;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6" name="Google Shape;216;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7" name="Google Shape;217;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8" name="Google Shape;218;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9" name="Google Shape;219;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220" name="Google Shape;220;p17"/>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21" name="Google Shape;221;p17"/>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222" name="Shape 222"/>
        <p:cNvGrpSpPr/>
        <p:nvPr/>
      </p:nvGrpSpPr>
      <p:grpSpPr>
        <a:xfrm>
          <a:off x="0" y="0"/>
          <a:ext cx="0" cy="0"/>
          <a:chOff x="0" y="0"/>
          <a:chExt cx="0" cy="0"/>
        </a:xfrm>
      </p:grpSpPr>
      <p:sp>
        <p:nvSpPr>
          <p:cNvPr id="223" name="Google Shape;223;p1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24" name="Google Shape;224;p18"/>
          <p:cNvSpPr/>
          <p:nvPr>
            <p:ph idx="2" type="pic"/>
          </p:nvPr>
        </p:nvSpPr>
        <p:spPr>
          <a:xfrm>
            <a:off x="228425" y="1804150"/>
            <a:ext cx="1444500" cy="1451400"/>
          </a:xfrm>
          <a:prstGeom prst="rect">
            <a:avLst/>
          </a:prstGeom>
          <a:noFill/>
          <a:ln>
            <a:noFill/>
          </a:ln>
        </p:spPr>
      </p:sp>
      <p:sp>
        <p:nvSpPr>
          <p:cNvPr id="225" name="Google Shape;225;p18"/>
          <p:cNvSpPr/>
          <p:nvPr>
            <p:ph idx="3" type="pic"/>
          </p:nvPr>
        </p:nvSpPr>
        <p:spPr>
          <a:xfrm>
            <a:off x="2036775" y="1804150"/>
            <a:ext cx="1444500" cy="1451400"/>
          </a:xfrm>
          <a:prstGeom prst="rect">
            <a:avLst/>
          </a:prstGeom>
          <a:noFill/>
          <a:ln>
            <a:noFill/>
          </a:ln>
        </p:spPr>
      </p:sp>
      <p:sp>
        <p:nvSpPr>
          <p:cNvPr id="226" name="Google Shape;226;p18"/>
          <p:cNvSpPr/>
          <p:nvPr>
            <p:ph idx="4" type="pic"/>
          </p:nvPr>
        </p:nvSpPr>
        <p:spPr>
          <a:xfrm>
            <a:off x="3844088" y="1804150"/>
            <a:ext cx="1444500" cy="1451400"/>
          </a:xfrm>
          <a:prstGeom prst="rect">
            <a:avLst/>
          </a:prstGeom>
          <a:noFill/>
          <a:ln>
            <a:noFill/>
          </a:ln>
        </p:spPr>
      </p:sp>
      <p:sp>
        <p:nvSpPr>
          <p:cNvPr id="227" name="Google Shape;227;p18"/>
          <p:cNvSpPr/>
          <p:nvPr>
            <p:ph idx="5" type="pic"/>
          </p:nvPr>
        </p:nvSpPr>
        <p:spPr>
          <a:xfrm>
            <a:off x="5655513" y="1804150"/>
            <a:ext cx="1444500" cy="1451400"/>
          </a:xfrm>
          <a:prstGeom prst="rect">
            <a:avLst/>
          </a:prstGeom>
          <a:noFill/>
          <a:ln>
            <a:noFill/>
          </a:ln>
        </p:spPr>
      </p:sp>
      <p:sp>
        <p:nvSpPr>
          <p:cNvPr id="228" name="Google Shape;228;p18"/>
          <p:cNvSpPr/>
          <p:nvPr>
            <p:ph idx="6" type="pic"/>
          </p:nvPr>
        </p:nvSpPr>
        <p:spPr>
          <a:xfrm>
            <a:off x="7470863" y="1804150"/>
            <a:ext cx="1444500" cy="1451400"/>
          </a:xfrm>
          <a:prstGeom prst="rect">
            <a:avLst/>
          </a:prstGeom>
          <a:noFill/>
          <a:ln>
            <a:noFill/>
          </a:ln>
        </p:spPr>
      </p:sp>
      <p:sp>
        <p:nvSpPr>
          <p:cNvPr id="229" name="Google Shape;229;p18"/>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0" name="Google Shape;230;p18"/>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1" name="Google Shape;231;p18"/>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32" name="Google Shape;232;p18"/>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3" name="Google Shape;233;p18"/>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4" name="Google Shape;234;p18"/>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5" name="Google Shape;235;p18"/>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6" name="Google Shape;236;p18"/>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7" name="Google Shape;237;p18"/>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8" name="Google Shape;238;p18"/>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239" name="Shape 239"/>
        <p:cNvGrpSpPr/>
        <p:nvPr/>
      </p:nvGrpSpPr>
      <p:grpSpPr>
        <a:xfrm>
          <a:off x="0" y="0"/>
          <a:ext cx="0" cy="0"/>
          <a:chOff x="0" y="0"/>
          <a:chExt cx="0" cy="0"/>
        </a:xfrm>
      </p:grpSpPr>
      <p:sp>
        <p:nvSpPr>
          <p:cNvPr id="240" name="Google Shape;240;p19"/>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41" name="Google Shape;241;p19"/>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2" name="Google Shape;242;p19"/>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3" name="Google Shape;243;p19"/>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4" name="Google Shape;244;p19"/>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5" name="Google Shape;245;p19"/>
          <p:cNvSpPr/>
          <p:nvPr>
            <p:ph idx="2" type="pic"/>
          </p:nvPr>
        </p:nvSpPr>
        <p:spPr>
          <a:xfrm>
            <a:off x="228425" y="1992125"/>
            <a:ext cx="1444500" cy="1451400"/>
          </a:xfrm>
          <a:prstGeom prst="rect">
            <a:avLst/>
          </a:prstGeom>
          <a:noFill/>
          <a:ln>
            <a:noFill/>
          </a:ln>
        </p:spPr>
      </p:sp>
      <p:sp>
        <p:nvSpPr>
          <p:cNvPr id="246" name="Google Shape;246;p19"/>
          <p:cNvSpPr/>
          <p:nvPr>
            <p:ph idx="3" type="pic"/>
          </p:nvPr>
        </p:nvSpPr>
        <p:spPr>
          <a:xfrm>
            <a:off x="2039088" y="1992125"/>
            <a:ext cx="1444500" cy="1451400"/>
          </a:xfrm>
          <a:prstGeom prst="rect">
            <a:avLst/>
          </a:prstGeom>
          <a:noFill/>
          <a:ln>
            <a:noFill/>
          </a:ln>
        </p:spPr>
      </p:sp>
      <p:sp>
        <p:nvSpPr>
          <p:cNvPr id="247" name="Google Shape;247;p19"/>
          <p:cNvSpPr/>
          <p:nvPr>
            <p:ph idx="4" type="pic"/>
          </p:nvPr>
        </p:nvSpPr>
        <p:spPr>
          <a:xfrm>
            <a:off x="3849663" y="1992125"/>
            <a:ext cx="1444500" cy="1451400"/>
          </a:xfrm>
          <a:prstGeom prst="rect">
            <a:avLst/>
          </a:prstGeom>
          <a:noFill/>
          <a:ln>
            <a:noFill/>
          </a:ln>
        </p:spPr>
      </p:sp>
      <p:sp>
        <p:nvSpPr>
          <p:cNvPr id="248" name="Google Shape;248;p19"/>
          <p:cNvSpPr/>
          <p:nvPr>
            <p:ph idx="5" type="pic"/>
          </p:nvPr>
        </p:nvSpPr>
        <p:spPr>
          <a:xfrm>
            <a:off x="5660238" y="1992125"/>
            <a:ext cx="1444500" cy="1451400"/>
          </a:xfrm>
          <a:prstGeom prst="rect">
            <a:avLst/>
          </a:prstGeom>
          <a:noFill/>
          <a:ln>
            <a:noFill/>
          </a:ln>
        </p:spPr>
      </p:sp>
      <p:sp>
        <p:nvSpPr>
          <p:cNvPr id="249" name="Google Shape;249;p19"/>
          <p:cNvSpPr/>
          <p:nvPr>
            <p:ph idx="6" type="pic"/>
          </p:nvPr>
        </p:nvSpPr>
        <p:spPr>
          <a:xfrm>
            <a:off x="7470738" y="1992125"/>
            <a:ext cx="1444500" cy="1451400"/>
          </a:xfrm>
          <a:prstGeom prst="rect">
            <a:avLst/>
          </a:prstGeom>
          <a:noFill/>
          <a:ln>
            <a:noFill/>
          </a:ln>
        </p:spPr>
      </p:sp>
      <p:sp>
        <p:nvSpPr>
          <p:cNvPr id="250" name="Google Shape;250;p19"/>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1" name="Google Shape;251;p19"/>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2" name="Google Shape;252;p19"/>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53" name="Google Shape;253;p19"/>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4" name="Google Shape;254;p19"/>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5" name="Google Shape;255;p19"/>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6" name="Google Shape;256;p19"/>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7" name="Google Shape;257;p19"/>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8" name="Google Shape;258;p19"/>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9" name="Google Shape;259;p19"/>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0" name="Google Shape;260;p19"/>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1" name="Google Shape;261;p19"/>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2" name="Google Shape;262;p19"/>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63" name="Google Shape;263;p19"/>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4" name="Google Shape;264;p19"/>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65" name="Shape 265"/>
        <p:cNvGrpSpPr/>
        <p:nvPr/>
      </p:nvGrpSpPr>
      <p:grpSpPr>
        <a:xfrm>
          <a:off x="0" y="0"/>
          <a:ext cx="0" cy="0"/>
          <a:chOff x="0" y="0"/>
          <a:chExt cx="0" cy="0"/>
        </a:xfrm>
      </p:grpSpPr>
      <p:sp>
        <p:nvSpPr>
          <p:cNvPr id="266" name="Google Shape;266;p2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67" name="Shape 267"/>
        <p:cNvGrpSpPr/>
        <p:nvPr/>
      </p:nvGrpSpPr>
      <p:grpSpPr>
        <a:xfrm>
          <a:off x="0" y="0"/>
          <a:ext cx="0" cy="0"/>
          <a:chOff x="0" y="0"/>
          <a:chExt cx="0" cy="0"/>
        </a:xfrm>
      </p:grpSpPr>
      <p:sp>
        <p:nvSpPr>
          <p:cNvPr id="268" name="Google Shape;268;p21"/>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69" name="Google Shape;269;p21"/>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0" name="Google Shape;270;p21"/>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1" name="Google Shape;271;p21"/>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2" name="Google Shape;272;p21"/>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3" name="Google Shape;273;p21"/>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4" name="Google Shape;274;p21"/>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5" name="Google Shape;275;p21"/>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6" name="Google Shape;276;p21"/>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7" name="Google Shape;277;p21"/>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8" name="Google Shape;278;p21"/>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79" name="Shape 279"/>
        <p:cNvGrpSpPr/>
        <p:nvPr/>
      </p:nvGrpSpPr>
      <p:grpSpPr>
        <a:xfrm>
          <a:off x="0" y="0"/>
          <a:ext cx="0" cy="0"/>
          <a:chOff x="0" y="0"/>
          <a:chExt cx="0" cy="0"/>
        </a:xfrm>
      </p:grpSpPr>
      <p:sp>
        <p:nvSpPr>
          <p:cNvPr id="280" name="Google Shape;280;p22"/>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1" name="Google Shape;281;p22"/>
          <p:cNvSpPr/>
          <p:nvPr>
            <p:ph idx="2" type="pic"/>
          </p:nvPr>
        </p:nvSpPr>
        <p:spPr>
          <a:xfrm>
            <a:off x="1446025" y="1291825"/>
            <a:ext cx="1232400" cy="1283100"/>
          </a:xfrm>
          <a:prstGeom prst="snip1Rect">
            <a:avLst>
              <a:gd fmla="val 44296" name="adj"/>
            </a:avLst>
          </a:prstGeom>
          <a:noFill/>
          <a:ln>
            <a:noFill/>
          </a:ln>
        </p:spPr>
      </p:sp>
      <p:sp>
        <p:nvSpPr>
          <p:cNvPr id="282" name="Google Shape;282;p22"/>
          <p:cNvSpPr/>
          <p:nvPr>
            <p:ph idx="3" type="pic"/>
          </p:nvPr>
        </p:nvSpPr>
        <p:spPr>
          <a:xfrm>
            <a:off x="6526650" y="1291825"/>
            <a:ext cx="1232400" cy="1283100"/>
          </a:xfrm>
          <a:prstGeom prst="snip1Rect">
            <a:avLst>
              <a:gd fmla="val 44296" name="adj"/>
            </a:avLst>
          </a:prstGeom>
          <a:noFill/>
          <a:ln>
            <a:noFill/>
          </a:ln>
        </p:spPr>
      </p:sp>
      <p:sp>
        <p:nvSpPr>
          <p:cNvPr id="283" name="Google Shape;283;p22"/>
          <p:cNvSpPr/>
          <p:nvPr>
            <p:ph idx="4" type="pic"/>
          </p:nvPr>
        </p:nvSpPr>
        <p:spPr>
          <a:xfrm>
            <a:off x="3982125" y="2570200"/>
            <a:ext cx="1232400" cy="1292100"/>
          </a:xfrm>
          <a:prstGeom prst="snip1Rect">
            <a:avLst>
              <a:gd fmla="val 44296" name="adj"/>
            </a:avLst>
          </a:prstGeom>
          <a:noFill/>
          <a:ln>
            <a:noFill/>
          </a:ln>
        </p:spPr>
      </p:sp>
      <p:sp>
        <p:nvSpPr>
          <p:cNvPr id="284" name="Google Shape;284;p22"/>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5" name="Google Shape;285;p22"/>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86" name="Google Shape;286;p22"/>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22"/>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88" name="Google Shape;288;p22"/>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9" name="Google Shape;289;p22"/>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90" name="Google Shape;290;p22"/>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91" name="Google Shape;291;p22"/>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92" name="Google Shape;292;p22"/>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93" name="Shape 293"/>
        <p:cNvGrpSpPr/>
        <p:nvPr/>
      </p:nvGrpSpPr>
      <p:grpSpPr>
        <a:xfrm>
          <a:off x="0" y="0"/>
          <a:ext cx="0" cy="0"/>
          <a:chOff x="0" y="0"/>
          <a:chExt cx="0" cy="0"/>
        </a:xfrm>
      </p:grpSpPr>
      <p:pic>
        <p:nvPicPr>
          <p:cNvPr id="294" name="Google Shape;294;p23"/>
          <p:cNvPicPr preferRelativeResize="0"/>
          <p:nvPr/>
        </p:nvPicPr>
        <p:blipFill rotWithShape="1">
          <a:blip r:embed="rId2">
            <a:alphaModFix/>
          </a:blip>
          <a:srcRect b="7467" l="0" r="17931" t="6703"/>
          <a:stretch/>
        </p:blipFill>
        <p:spPr>
          <a:xfrm>
            <a:off x="5425450" y="0"/>
            <a:ext cx="3718549" cy="4097924"/>
          </a:xfrm>
          <a:prstGeom prst="rect">
            <a:avLst/>
          </a:prstGeom>
          <a:noFill/>
          <a:ln>
            <a:noFill/>
          </a:ln>
        </p:spPr>
      </p:pic>
      <p:sp>
        <p:nvSpPr>
          <p:cNvPr id="295" name="Google Shape;295;p23"/>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6" name="Google Shape;296;p23"/>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97" name="Google Shape;297;p23"/>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98" name="Google Shape;298;p23"/>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99" name="Google Shape;299;p23"/>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300" name="Google Shape;300;p23"/>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01" name="Google Shape;301;p23"/>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302" name="Shape 302"/>
        <p:cNvGrpSpPr/>
        <p:nvPr/>
      </p:nvGrpSpPr>
      <p:grpSpPr>
        <a:xfrm>
          <a:off x="0" y="0"/>
          <a:ext cx="0" cy="0"/>
          <a:chOff x="0" y="0"/>
          <a:chExt cx="0" cy="0"/>
        </a:xfrm>
      </p:grpSpPr>
      <p:pic>
        <p:nvPicPr>
          <p:cNvPr id="303" name="Google Shape;303;p24"/>
          <p:cNvPicPr preferRelativeResize="0"/>
          <p:nvPr/>
        </p:nvPicPr>
        <p:blipFill rotWithShape="1">
          <a:blip r:embed="rId2">
            <a:alphaModFix/>
          </a:blip>
          <a:srcRect b="15068" l="14900" r="18070" t="15235"/>
          <a:stretch/>
        </p:blipFill>
        <p:spPr>
          <a:xfrm>
            <a:off x="2750850" y="1538351"/>
            <a:ext cx="1791900" cy="2175997"/>
          </a:xfrm>
          <a:prstGeom prst="rect">
            <a:avLst/>
          </a:prstGeom>
          <a:noFill/>
          <a:ln>
            <a:noFill/>
          </a:ln>
        </p:spPr>
      </p:pic>
      <p:sp>
        <p:nvSpPr>
          <p:cNvPr id="304" name="Google Shape;304;p24"/>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305" name="Google Shape;305;p24"/>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06" name="Google Shape;306;p24"/>
          <p:cNvSpPr/>
          <p:nvPr>
            <p:ph idx="2" type="pic"/>
          </p:nvPr>
        </p:nvSpPr>
        <p:spPr>
          <a:xfrm>
            <a:off x="228425" y="2450950"/>
            <a:ext cx="1791900" cy="1917600"/>
          </a:xfrm>
          <a:prstGeom prst="rect">
            <a:avLst/>
          </a:prstGeom>
          <a:noFill/>
          <a:ln>
            <a:noFill/>
          </a:ln>
        </p:spPr>
      </p:sp>
      <p:sp>
        <p:nvSpPr>
          <p:cNvPr id="307" name="Google Shape;307;p24"/>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308" name="Google Shape;308;p24"/>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09" name="Google Shape;309;p24"/>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0" name="Google Shape;310;p24"/>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11" name="Google Shape;311;p24"/>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2" name="Google Shape;312;p24"/>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13" name="Google Shape;313;p24"/>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24"/>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315" name="Shape 315"/>
        <p:cNvGrpSpPr/>
        <p:nvPr/>
      </p:nvGrpSpPr>
      <p:grpSpPr>
        <a:xfrm>
          <a:off x="0" y="0"/>
          <a:ext cx="0" cy="0"/>
          <a:chOff x="0" y="0"/>
          <a:chExt cx="0" cy="0"/>
        </a:xfrm>
      </p:grpSpPr>
      <p:sp>
        <p:nvSpPr>
          <p:cNvPr id="316" name="Google Shape;316;p25"/>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25"/>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8" name="Google Shape;318;p25"/>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9" name="Google Shape;319;p25"/>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0" name="Google Shape;320;p25"/>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1" name="Google Shape;321;p25"/>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2" name="Google Shape;322;p25"/>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3" name="Google Shape;323;p25"/>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4" name="Google Shape;324;p25"/>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25" name="Google Shape;325;p25"/>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26" name="Google Shape;326;p25"/>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327" name="Shape 327"/>
        <p:cNvGrpSpPr/>
        <p:nvPr/>
      </p:nvGrpSpPr>
      <p:grpSpPr>
        <a:xfrm>
          <a:off x="0" y="0"/>
          <a:ext cx="0" cy="0"/>
          <a:chOff x="0" y="0"/>
          <a:chExt cx="0" cy="0"/>
        </a:xfrm>
      </p:grpSpPr>
      <p:sp>
        <p:nvSpPr>
          <p:cNvPr id="328" name="Google Shape;328;p2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9" name="Google Shape;329;p26"/>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0" name="Google Shape;330;p26"/>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1" name="Google Shape;331;p26"/>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332" name="Google Shape;332;p26"/>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3" name="Google Shape;333;p26"/>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4" name="Google Shape;334;p26"/>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5" name="Google Shape;335;p26"/>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336" name="Google Shape;336;p26"/>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7" name="Google Shape;337;p26"/>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38" name="Google Shape;338;p2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339" name="Shape 339"/>
        <p:cNvGrpSpPr/>
        <p:nvPr/>
      </p:nvGrpSpPr>
      <p:grpSpPr>
        <a:xfrm>
          <a:off x="0" y="0"/>
          <a:ext cx="0" cy="0"/>
          <a:chOff x="0" y="0"/>
          <a:chExt cx="0" cy="0"/>
        </a:xfrm>
      </p:grpSpPr>
      <p:sp>
        <p:nvSpPr>
          <p:cNvPr id="340" name="Google Shape;340;p2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41" name="Google Shape;341;p2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42" name="Google Shape;342;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3" name="Google Shape;343;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344" name="Google Shape;344;p27"/>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5" name="Google Shape;345;p27"/>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6" name="Google Shape;346;p27"/>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47" name="Google Shape;347;p27"/>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48" name="Google Shape;348;p27"/>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49" name="Google Shape;349;p27"/>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0" name="Google Shape;350;p27"/>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1" name="Google Shape;351;p27"/>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2" name="Google Shape;352;p27"/>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3" name="Google Shape;353;p27"/>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4" name="Google Shape;354;p27"/>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5" name="Google Shape;355;p27"/>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6" name="Google Shape;356;p27"/>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7" name="Google Shape;357;p27"/>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8" name="Google Shape;358;p27"/>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9" name="Google Shape;359;p27"/>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0" name="Google Shape;360;p27"/>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1" name="Google Shape;361;p27"/>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2" name="Google Shape;362;p27"/>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3" name="Google Shape;363;p27"/>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4" name="Google Shape;364;p27"/>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5" name="Google Shape;365;p27"/>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6" name="Google Shape;366;p27"/>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67" name="Shape 367"/>
        <p:cNvGrpSpPr/>
        <p:nvPr/>
      </p:nvGrpSpPr>
      <p:grpSpPr>
        <a:xfrm>
          <a:off x="0" y="0"/>
          <a:ext cx="0" cy="0"/>
          <a:chOff x="0" y="0"/>
          <a:chExt cx="0" cy="0"/>
        </a:xfrm>
      </p:grpSpPr>
      <p:sp>
        <p:nvSpPr>
          <p:cNvPr id="368" name="Google Shape;368;p2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69" name="Google Shape;369;p2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0" name="Google Shape;370;p2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1" name="Google Shape;371;p28"/>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2" name="Google Shape;372;p28"/>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3" name="Google Shape;373;p28"/>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4" name="Google Shape;374;p28"/>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5" name="Google Shape;375;p28"/>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6" name="Google Shape;376;p28"/>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77" name="Google Shape;377;p28"/>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78" name="Google Shape;378;p28"/>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79" name="Google Shape;379;p28"/>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80" name="Google Shape;380;p28"/>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81" name="Shape 381"/>
        <p:cNvGrpSpPr/>
        <p:nvPr/>
      </p:nvGrpSpPr>
      <p:grpSpPr>
        <a:xfrm>
          <a:off x="0" y="0"/>
          <a:ext cx="0" cy="0"/>
          <a:chOff x="0" y="0"/>
          <a:chExt cx="0" cy="0"/>
        </a:xfrm>
      </p:grpSpPr>
      <p:sp>
        <p:nvSpPr>
          <p:cNvPr id="382" name="Google Shape;382;p2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83" name="Google Shape;383;p2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84" name="Google Shape;384;p2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5" name="Google Shape;385;p29"/>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6" name="Google Shape;386;p29"/>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7" name="Google Shape;387;p29"/>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8" name="Google Shape;388;p29"/>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89" name="Google Shape;389;p29"/>
          <p:cNvGrpSpPr/>
          <p:nvPr/>
        </p:nvGrpSpPr>
        <p:grpSpPr>
          <a:xfrm flipH="1">
            <a:off x="6903656" y="79823"/>
            <a:ext cx="2140834" cy="1767927"/>
            <a:chOff x="142083" y="79814"/>
            <a:chExt cx="1831025" cy="1512212"/>
          </a:xfrm>
        </p:grpSpPr>
        <p:sp>
          <p:nvSpPr>
            <p:cNvPr id="390" name="Google Shape;390;p29"/>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1" name="Google Shape;391;p29"/>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2" name="Google Shape;392;p29"/>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3" name="Google Shape;393;p29"/>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4" name="Google Shape;394;p29"/>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5" name="Google Shape;395;p29"/>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6" name="Google Shape;396;p29"/>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7" name="Google Shape;397;p29"/>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8" name="Google Shape;398;p29"/>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9" name="Google Shape;399;p29"/>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0" name="Google Shape;400;p29"/>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1" name="Google Shape;401;p29"/>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2" name="Google Shape;402;p29"/>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3" name="Google Shape;403;p29"/>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4" name="Google Shape;404;p29"/>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5" name="Google Shape;405;p29"/>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6" name="Google Shape;406;p29"/>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7" name="Google Shape;407;p29"/>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8" name="Google Shape;408;p29"/>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9" name="Google Shape;409;p29"/>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0" name="Google Shape;410;p29"/>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1" name="Google Shape;411;p29"/>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2" name="Google Shape;412;p29"/>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3" name="Google Shape;413;p29"/>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414" name="Google Shape;414;p29"/>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15" name="Google Shape;415;p29"/>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416" name="Shape 416"/>
        <p:cNvGrpSpPr/>
        <p:nvPr/>
      </p:nvGrpSpPr>
      <p:grpSpPr>
        <a:xfrm>
          <a:off x="0" y="0"/>
          <a:ext cx="0" cy="0"/>
          <a:chOff x="0" y="0"/>
          <a:chExt cx="0" cy="0"/>
        </a:xfrm>
      </p:grpSpPr>
      <p:sp>
        <p:nvSpPr>
          <p:cNvPr id="417" name="Google Shape;417;p30"/>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18" name="Google Shape;418;p30"/>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19" name="Google Shape;419;p30"/>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0" name="Google Shape;420;p30"/>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1" name="Google Shape;421;p30"/>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2" name="Google Shape;422;p30"/>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3" name="Google Shape;423;p30"/>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424" name="Google Shape;424;p30"/>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25" name="Google Shape;425;p30"/>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426" name="Shape 426"/>
        <p:cNvGrpSpPr/>
        <p:nvPr/>
      </p:nvGrpSpPr>
      <p:grpSpPr>
        <a:xfrm>
          <a:off x="0" y="0"/>
          <a:ext cx="0" cy="0"/>
          <a:chOff x="0" y="0"/>
          <a:chExt cx="0" cy="0"/>
        </a:xfrm>
      </p:grpSpPr>
      <p:sp>
        <p:nvSpPr>
          <p:cNvPr id="427" name="Google Shape;427;p31"/>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8" name="Google Shape;428;p31"/>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29" name="Google Shape;429;p31"/>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30" name="Google Shape;430;p31"/>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1" name="Google Shape;431;p31"/>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2" name="Google Shape;432;p31"/>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3" name="Google Shape;433;p31"/>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4" name="Google Shape;434;p31"/>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5" name="Google Shape;435;p31"/>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6" name="Google Shape;436;p31"/>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7" name="Google Shape;437;p31"/>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438" name="Shape 438"/>
        <p:cNvGrpSpPr/>
        <p:nvPr/>
      </p:nvGrpSpPr>
      <p:grpSpPr>
        <a:xfrm>
          <a:off x="0" y="0"/>
          <a:ext cx="0" cy="0"/>
          <a:chOff x="0" y="0"/>
          <a:chExt cx="0" cy="0"/>
        </a:xfrm>
      </p:grpSpPr>
      <p:cxnSp>
        <p:nvCxnSpPr>
          <p:cNvPr id="439" name="Google Shape;439;p32"/>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440" name="Google Shape;440;p32"/>
          <p:cNvCxnSpPr>
            <a:stCxn id="441" idx="1"/>
            <a:endCxn id="442"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443" name="Google Shape;443;p32"/>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444" name="Google Shape;444;p32"/>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441" name="Google Shape;441;p32"/>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45" name="Google Shape;445;p32"/>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442" name="Google Shape;442;p32"/>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46" name="Google Shape;446;p32"/>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47" name="Google Shape;447;p32"/>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8" name="Google Shape;448;p32"/>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9" name="Google Shape;449;p32"/>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50" name="Shape 450"/>
        <p:cNvGrpSpPr/>
        <p:nvPr/>
      </p:nvGrpSpPr>
      <p:grpSpPr>
        <a:xfrm>
          <a:off x="0" y="0"/>
          <a:ext cx="0" cy="0"/>
          <a:chOff x="0" y="0"/>
          <a:chExt cx="0" cy="0"/>
        </a:xfrm>
      </p:grpSpPr>
      <p:cxnSp>
        <p:nvCxnSpPr>
          <p:cNvPr id="451" name="Google Shape;451;p33"/>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52" name="Google Shape;452;p33"/>
          <p:cNvCxnSpPr>
            <a:stCxn id="453" idx="1"/>
            <a:endCxn id="454"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55" name="Google Shape;455;p33"/>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56" name="Google Shape;456;p33"/>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53" name="Google Shape;453;p33"/>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57" name="Google Shape;457;p33"/>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54" name="Google Shape;454;p33"/>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58" name="Google Shape;458;p33"/>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59" name="Google Shape;459;p33"/>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0" name="Google Shape;460;p33"/>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1" name="Google Shape;461;p33"/>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62" name="Shape 462"/>
        <p:cNvGrpSpPr/>
        <p:nvPr/>
      </p:nvGrpSpPr>
      <p:grpSpPr>
        <a:xfrm>
          <a:off x="0" y="0"/>
          <a:ext cx="0" cy="0"/>
          <a:chOff x="0" y="0"/>
          <a:chExt cx="0" cy="0"/>
        </a:xfrm>
      </p:grpSpPr>
      <p:sp>
        <p:nvSpPr>
          <p:cNvPr id="463" name="Google Shape;463;p34"/>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4" name="Google Shape;464;p34"/>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65" name="Google Shape;465;p34"/>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6" name="Google Shape;466;p34"/>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7" name="Google Shape;467;p34"/>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8" name="Google Shape;468;p34"/>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9" name="Google Shape;469;p34"/>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0" name="Google Shape;470;p34"/>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1" name="Google Shape;471;p34"/>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2" name="Google Shape;472;p34"/>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3" name="Google Shape;473;p34"/>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4" name="Google Shape;474;p34"/>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5" name="Google Shape;475;p34"/>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6" name="Google Shape;476;p34"/>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7" name="Google Shape;477;p34"/>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8" name="Google Shape;478;p34"/>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9" name="Google Shape;479;p34"/>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80" name="Shape 480"/>
        <p:cNvGrpSpPr/>
        <p:nvPr/>
      </p:nvGrpSpPr>
      <p:grpSpPr>
        <a:xfrm>
          <a:off x="0" y="0"/>
          <a:ext cx="0" cy="0"/>
          <a:chOff x="0" y="0"/>
          <a:chExt cx="0" cy="0"/>
        </a:xfrm>
      </p:grpSpPr>
      <p:sp>
        <p:nvSpPr>
          <p:cNvPr id="481" name="Google Shape;481;p35"/>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2" name="Google Shape;482;p35"/>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83" name="Google Shape;483;p35"/>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4" name="Google Shape;484;p35"/>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5" name="Google Shape;485;p35"/>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6" name="Google Shape;486;p35"/>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7" name="Google Shape;487;p35"/>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8" name="Google Shape;488;p35"/>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89" name="Google Shape;489;p35"/>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0" name="Google Shape;490;p35"/>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1" name="Google Shape;491;p35"/>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92" name="Shape 492"/>
        <p:cNvGrpSpPr/>
        <p:nvPr/>
      </p:nvGrpSpPr>
      <p:grpSpPr>
        <a:xfrm>
          <a:off x="0" y="0"/>
          <a:ext cx="0" cy="0"/>
          <a:chOff x="0" y="0"/>
          <a:chExt cx="0" cy="0"/>
        </a:xfrm>
      </p:grpSpPr>
      <p:sp>
        <p:nvSpPr>
          <p:cNvPr id="493" name="Google Shape;493;p36"/>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94" name="Google Shape;494;p36"/>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95" name="Google Shape;495;p36"/>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6" name="Google Shape;496;p36"/>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97" name="Google Shape;497;p36"/>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98" name="Google Shape;498;p36"/>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99" name="Google Shape;499;p36"/>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00" name="Google Shape;500;p36"/>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01" name="Google Shape;501;p36"/>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02" name="Shape 502"/>
        <p:cNvGrpSpPr/>
        <p:nvPr/>
      </p:nvGrpSpPr>
      <p:grpSpPr>
        <a:xfrm>
          <a:off x="0" y="0"/>
          <a:ext cx="0" cy="0"/>
          <a:chOff x="0" y="0"/>
          <a:chExt cx="0" cy="0"/>
        </a:xfrm>
      </p:grpSpPr>
      <p:sp>
        <p:nvSpPr>
          <p:cNvPr id="503" name="Google Shape;50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04" name="Shape 504"/>
        <p:cNvGrpSpPr/>
        <p:nvPr/>
      </p:nvGrpSpPr>
      <p:grpSpPr>
        <a:xfrm>
          <a:off x="0" y="0"/>
          <a:ext cx="0" cy="0"/>
          <a:chOff x="0" y="0"/>
          <a:chExt cx="0" cy="0"/>
        </a:xfrm>
      </p:grpSpPr>
      <p:sp>
        <p:nvSpPr>
          <p:cNvPr id="505" name="Google Shape;505;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06" name="Google Shape;50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07" name="Shape 507"/>
        <p:cNvGrpSpPr/>
        <p:nvPr/>
      </p:nvGrpSpPr>
      <p:grpSpPr>
        <a:xfrm>
          <a:off x="0" y="0"/>
          <a:ext cx="0" cy="0"/>
          <a:chOff x="0" y="0"/>
          <a:chExt cx="0" cy="0"/>
        </a:xfrm>
      </p:grpSpPr>
      <p:sp>
        <p:nvSpPr>
          <p:cNvPr id="508" name="Google Shape;50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09" name="Google Shape;509;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0" name="Google Shape;510;p39"/>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11" name="Shape 511"/>
        <p:cNvGrpSpPr/>
        <p:nvPr/>
      </p:nvGrpSpPr>
      <p:grpSpPr>
        <a:xfrm>
          <a:off x="0" y="0"/>
          <a:ext cx="0" cy="0"/>
          <a:chOff x="0" y="0"/>
          <a:chExt cx="0" cy="0"/>
        </a:xfrm>
      </p:grpSpPr>
      <p:sp>
        <p:nvSpPr>
          <p:cNvPr id="512" name="Google Shape;512;p4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3" name="Google Shape;513;p4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14" name="Shape 514"/>
        <p:cNvGrpSpPr/>
        <p:nvPr/>
      </p:nvGrpSpPr>
      <p:grpSpPr>
        <a:xfrm>
          <a:off x="0" y="0"/>
          <a:ext cx="0" cy="0"/>
          <a:chOff x="0" y="0"/>
          <a:chExt cx="0" cy="0"/>
        </a:xfrm>
      </p:grpSpPr>
      <p:sp>
        <p:nvSpPr>
          <p:cNvPr id="515" name="Google Shape;515;p4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16" name="Shape 516"/>
        <p:cNvGrpSpPr/>
        <p:nvPr/>
      </p:nvGrpSpPr>
      <p:grpSpPr>
        <a:xfrm>
          <a:off x="0" y="0"/>
          <a:ext cx="0" cy="0"/>
          <a:chOff x="0" y="0"/>
          <a:chExt cx="0" cy="0"/>
        </a:xfrm>
      </p:grpSpPr>
      <p:sp>
        <p:nvSpPr>
          <p:cNvPr id="517" name="Google Shape;517;p4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8" name="Google Shape;518;p4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19" name="Google Shape;519;p4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20" name="Shape 520"/>
        <p:cNvGrpSpPr/>
        <p:nvPr/>
      </p:nvGrpSpPr>
      <p:grpSpPr>
        <a:xfrm>
          <a:off x="0" y="0"/>
          <a:ext cx="0" cy="0"/>
          <a:chOff x="0" y="0"/>
          <a:chExt cx="0" cy="0"/>
        </a:xfrm>
      </p:grpSpPr>
      <p:sp>
        <p:nvSpPr>
          <p:cNvPr id="521" name="Google Shape;521;p4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22" name="Shape 522"/>
        <p:cNvGrpSpPr/>
        <p:nvPr/>
      </p:nvGrpSpPr>
      <p:grpSpPr>
        <a:xfrm>
          <a:off x="0" y="0"/>
          <a:ext cx="0" cy="0"/>
          <a:chOff x="0" y="0"/>
          <a:chExt cx="0" cy="0"/>
        </a:xfrm>
      </p:grpSpPr>
      <p:sp>
        <p:nvSpPr>
          <p:cNvPr id="523" name="Google Shape;523;p4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4" name="Google Shape;524;p4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25" name="Shape 525"/>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26" name="Shape 526"/>
        <p:cNvGrpSpPr/>
        <p:nvPr/>
      </p:nvGrpSpPr>
      <p:grpSpPr>
        <a:xfrm>
          <a:off x="0" y="0"/>
          <a:ext cx="0" cy="0"/>
          <a:chOff x="0" y="0"/>
          <a:chExt cx="0" cy="0"/>
        </a:xfrm>
      </p:grpSpPr>
      <p:sp>
        <p:nvSpPr>
          <p:cNvPr id="527" name="Google Shape;52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28" name="Google Shape;528;p46"/>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29" name="Google Shape;529;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30" name="Shape 530"/>
        <p:cNvGrpSpPr/>
        <p:nvPr/>
      </p:nvGrpSpPr>
      <p:grpSpPr>
        <a:xfrm>
          <a:off x="0" y="0"/>
          <a:ext cx="0" cy="0"/>
          <a:chOff x="0" y="0"/>
          <a:chExt cx="0" cy="0"/>
        </a:xfrm>
      </p:grpSpPr>
      <p:sp>
        <p:nvSpPr>
          <p:cNvPr id="531" name="Google Shape;531;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2" name="Google Shape;532;p47"/>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3" name="Google Shape;533;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4" name="Google Shape;534;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5" name="Google Shape;535;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36" name="Shape 536"/>
        <p:cNvGrpSpPr/>
        <p:nvPr/>
      </p:nvGrpSpPr>
      <p:grpSpPr>
        <a:xfrm>
          <a:off x="0" y="0"/>
          <a:ext cx="0" cy="0"/>
          <a:chOff x="0" y="0"/>
          <a:chExt cx="0" cy="0"/>
        </a:xfrm>
      </p:grpSpPr>
      <p:sp>
        <p:nvSpPr>
          <p:cNvPr id="537" name="Google Shape;537;p48"/>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8" name="Google Shape;538;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9" name="Google Shape;539;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0" name="Google Shape;540;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1" name="Google Shape;541;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2" name="Google Shape;542;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3" name="Google Shape;543;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44" name="Shape 544"/>
        <p:cNvGrpSpPr/>
        <p:nvPr/>
      </p:nvGrpSpPr>
      <p:grpSpPr>
        <a:xfrm>
          <a:off x="0" y="0"/>
          <a:ext cx="0" cy="0"/>
          <a:chOff x="0" y="0"/>
          <a:chExt cx="0" cy="0"/>
        </a:xfrm>
      </p:grpSpPr>
      <p:sp>
        <p:nvSpPr>
          <p:cNvPr id="545" name="Google Shape;545;p49"/>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46" name="Google Shape;546;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7" name="Google Shape;547;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8" name="Google Shape;548;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9" name="Google Shape;549;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0" name="Google Shape;550;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1" name="Google Shape;551;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2" name="Google Shape;552;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3" name="Google Shape;553;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54" name="Shape 554"/>
        <p:cNvGrpSpPr/>
        <p:nvPr/>
      </p:nvGrpSpPr>
      <p:grpSpPr>
        <a:xfrm>
          <a:off x="0" y="0"/>
          <a:ext cx="0" cy="0"/>
          <a:chOff x="0" y="0"/>
          <a:chExt cx="0" cy="0"/>
        </a:xfrm>
      </p:grpSpPr>
      <p:sp>
        <p:nvSpPr>
          <p:cNvPr id="555" name="Google Shape;555;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56" name="Google Shape;556;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57" name="Shape 557"/>
        <p:cNvGrpSpPr/>
        <p:nvPr/>
      </p:nvGrpSpPr>
      <p:grpSpPr>
        <a:xfrm>
          <a:off x="0" y="0"/>
          <a:ext cx="0" cy="0"/>
          <a:chOff x="0" y="0"/>
          <a:chExt cx="0" cy="0"/>
        </a:xfrm>
      </p:grpSpPr>
      <p:sp>
        <p:nvSpPr>
          <p:cNvPr id="558" name="Google Shape;558;p51"/>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59" name="Google Shape;559;p51"/>
          <p:cNvSpPr/>
          <p:nvPr>
            <p:ph idx="2" type="pic"/>
          </p:nvPr>
        </p:nvSpPr>
        <p:spPr>
          <a:xfrm>
            <a:off x="4804825" y="1133300"/>
            <a:ext cx="4027500" cy="2392800"/>
          </a:xfrm>
          <a:prstGeom prst="rect">
            <a:avLst/>
          </a:prstGeom>
          <a:noFill/>
          <a:ln>
            <a:noFill/>
          </a:ln>
        </p:spPr>
      </p:sp>
      <p:sp>
        <p:nvSpPr>
          <p:cNvPr id="560" name="Google Shape;560;p51"/>
          <p:cNvSpPr/>
          <p:nvPr>
            <p:ph idx="3" type="pic"/>
          </p:nvPr>
        </p:nvSpPr>
        <p:spPr>
          <a:xfrm>
            <a:off x="311725" y="1133300"/>
            <a:ext cx="4027500" cy="2392800"/>
          </a:xfrm>
          <a:prstGeom prst="rect">
            <a:avLst/>
          </a:prstGeom>
          <a:noFill/>
          <a:ln>
            <a:noFill/>
          </a:ln>
        </p:spPr>
      </p:sp>
      <p:sp>
        <p:nvSpPr>
          <p:cNvPr id="561" name="Google Shape;561;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2" name="Google Shape;562;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63" name="Google Shape;563;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64" name="Google Shape;564;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65" name="Shape 565"/>
        <p:cNvGrpSpPr/>
        <p:nvPr/>
      </p:nvGrpSpPr>
      <p:grpSpPr>
        <a:xfrm>
          <a:off x="0" y="0"/>
          <a:ext cx="0" cy="0"/>
          <a:chOff x="0" y="0"/>
          <a:chExt cx="0" cy="0"/>
        </a:xfrm>
      </p:grpSpPr>
      <p:sp>
        <p:nvSpPr>
          <p:cNvPr id="566" name="Google Shape;566;p52"/>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67" name="Google Shape;567;p52"/>
          <p:cNvSpPr/>
          <p:nvPr>
            <p:ph idx="2" type="pic"/>
          </p:nvPr>
        </p:nvSpPr>
        <p:spPr>
          <a:xfrm>
            <a:off x="6205225" y="1128325"/>
            <a:ext cx="2627100" cy="2273100"/>
          </a:xfrm>
          <a:prstGeom prst="rect">
            <a:avLst/>
          </a:prstGeom>
          <a:noFill/>
          <a:ln>
            <a:noFill/>
          </a:ln>
        </p:spPr>
      </p:sp>
      <p:sp>
        <p:nvSpPr>
          <p:cNvPr id="568" name="Google Shape;568;p52"/>
          <p:cNvSpPr/>
          <p:nvPr>
            <p:ph idx="3" type="pic"/>
          </p:nvPr>
        </p:nvSpPr>
        <p:spPr>
          <a:xfrm>
            <a:off x="311725" y="1128325"/>
            <a:ext cx="2627100" cy="2273100"/>
          </a:xfrm>
          <a:prstGeom prst="rect">
            <a:avLst/>
          </a:prstGeom>
          <a:noFill/>
          <a:ln>
            <a:noFill/>
          </a:ln>
        </p:spPr>
      </p:sp>
      <p:sp>
        <p:nvSpPr>
          <p:cNvPr id="569" name="Google Shape;569;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0" name="Google Shape;570;p52"/>
          <p:cNvSpPr/>
          <p:nvPr>
            <p:ph idx="5" type="pic"/>
          </p:nvPr>
        </p:nvSpPr>
        <p:spPr>
          <a:xfrm>
            <a:off x="3255250" y="1128325"/>
            <a:ext cx="2627100" cy="2273100"/>
          </a:xfrm>
          <a:prstGeom prst="rect">
            <a:avLst/>
          </a:prstGeom>
          <a:noFill/>
          <a:ln>
            <a:noFill/>
          </a:ln>
        </p:spPr>
      </p:sp>
      <p:sp>
        <p:nvSpPr>
          <p:cNvPr id="571" name="Google Shape;571;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2" name="Google Shape;572;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73" name="Google Shape;573;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4" name="Google Shape;574;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5" name="Google Shape;575;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76" name="Shape 576"/>
        <p:cNvGrpSpPr/>
        <p:nvPr/>
      </p:nvGrpSpPr>
      <p:grpSpPr>
        <a:xfrm>
          <a:off x="0" y="0"/>
          <a:ext cx="0" cy="0"/>
          <a:chOff x="0" y="0"/>
          <a:chExt cx="0" cy="0"/>
        </a:xfrm>
      </p:grpSpPr>
      <p:sp>
        <p:nvSpPr>
          <p:cNvPr id="577" name="Google Shape;577;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78" name="Shape 578"/>
        <p:cNvGrpSpPr/>
        <p:nvPr/>
      </p:nvGrpSpPr>
      <p:grpSpPr>
        <a:xfrm>
          <a:off x="0" y="0"/>
          <a:ext cx="0" cy="0"/>
          <a:chOff x="0" y="0"/>
          <a:chExt cx="0" cy="0"/>
        </a:xfrm>
      </p:grpSpPr>
      <p:sp>
        <p:nvSpPr>
          <p:cNvPr id="579" name="Google Shape;579;p54"/>
          <p:cNvSpPr/>
          <p:nvPr>
            <p:ph idx="2" type="pic"/>
          </p:nvPr>
        </p:nvSpPr>
        <p:spPr>
          <a:xfrm>
            <a:off x="3389600" y="118913"/>
            <a:ext cx="1643700" cy="1535100"/>
          </a:xfrm>
          <a:prstGeom prst="rect">
            <a:avLst/>
          </a:prstGeom>
          <a:noFill/>
          <a:ln>
            <a:noFill/>
          </a:ln>
        </p:spPr>
      </p:sp>
      <p:sp>
        <p:nvSpPr>
          <p:cNvPr id="580" name="Google Shape;580;p54"/>
          <p:cNvSpPr/>
          <p:nvPr>
            <p:ph idx="3" type="pic"/>
          </p:nvPr>
        </p:nvSpPr>
        <p:spPr>
          <a:xfrm>
            <a:off x="5195935" y="118913"/>
            <a:ext cx="1643700" cy="1535100"/>
          </a:xfrm>
          <a:prstGeom prst="rect">
            <a:avLst/>
          </a:prstGeom>
          <a:noFill/>
          <a:ln>
            <a:noFill/>
          </a:ln>
        </p:spPr>
      </p:sp>
      <p:sp>
        <p:nvSpPr>
          <p:cNvPr id="581" name="Google Shape;581;p54"/>
          <p:cNvSpPr/>
          <p:nvPr>
            <p:ph idx="4" type="pic"/>
          </p:nvPr>
        </p:nvSpPr>
        <p:spPr>
          <a:xfrm>
            <a:off x="7002270" y="118913"/>
            <a:ext cx="1643700" cy="1535100"/>
          </a:xfrm>
          <a:prstGeom prst="rect">
            <a:avLst/>
          </a:prstGeom>
          <a:noFill/>
          <a:ln>
            <a:noFill/>
          </a:ln>
        </p:spPr>
      </p:sp>
      <p:sp>
        <p:nvSpPr>
          <p:cNvPr id="582" name="Google Shape;582;p54"/>
          <p:cNvSpPr/>
          <p:nvPr>
            <p:ph idx="5" type="pic"/>
          </p:nvPr>
        </p:nvSpPr>
        <p:spPr>
          <a:xfrm>
            <a:off x="3389588" y="1804212"/>
            <a:ext cx="1643700" cy="1535100"/>
          </a:xfrm>
          <a:prstGeom prst="rect">
            <a:avLst/>
          </a:prstGeom>
          <a:noFill/>
          <a:ln>
            <a:noFill/>
          </a:ln>
        </p:spPr>
      </p:sp>
      <p:sp>
        <p:nvSpPr>
          <p:cNvPr id="583" name="Google Shape;583;p54"/>
          <p:cNvSpPr/>
          <p:nvPr>
            <p:ph idx="6" type="pic"/>
          </p:nvPr>
        </p:nvSpPr>
        <p:spPr>
          <a:xfrm>
            <a:off x="5195922" y="1804212"/>
            <a:ext cx="1643700" cy="1535100"/>
          </a:xfrm>
          <a:prstGeom prst="rect">
            <a:avLst/>
          </a:prstGeom>
          <a:noFill/>
          <a:ln>
            <a:noFill/>
          </a:ln>
        </p:spPr>
      </p:sp>
      <p:sp>
        <p:nvSpPr>
          <p:cNvPr id="584" name="Google Shape;584;p54"/>
          <p:cNvSpPr/>
          <p:nvPr>
            <p:ph idx="7" type="pic"/>
          </p:nvPr>
        </p:nvSpPr>
        <p:spPr>
          <a:xfrm>
            <a:off x="7002257" y="1804212"/>
            <a:ext cx="1643700" cy="1535100"/>
          </a:xfrm>
          <a:prstGeom prst="rect">
            <a:avLst/>
          </a:prstGeom>
          <a:noFill/>
          <a:ln>
            <a:noFill/>
          </a:ln>
        </p:spPr>
      </p:sp>
      <p:sp>
        <p:nvSpPr>
          <p:cNvPr id="585" name="Google Shape;585;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86" name="Google Shape;586;p54"/>
          <p:cNvSpPr/>
          <p:nvPr>
            <p:ph idx="8" type="pic"/>
          </p:nvPr>
        </p:nvSpPr>
        <p:spPr>
          <a:xfrm>
            <a:off x="3389588" y="3489487"/>
            <a:ext cx="1643700" cy="1535100"/>
          </a:xfrm>
          <a:prstGeom prst="rect">
            <a:avLst/>
          </a:prstGeom>
          <a:noFill/>
          <a:ln>
            <a:noFill/>
          </a:ln>
        </p:spPr>
      </p:sp>
      <p:sp>
        <p:nvSpPr>
          <p:cNvPr id="587" name="Google Shape;587;p54"/>
          <p:cNvSpPr/>
          <p:nvPr>
            <p:ph idx="9" type="pic"/>
          </p:nvPr>
        </p:nvSpPr>
        <p:spPr>
          <a:xfrm>
            <a:off x="5195922" y="3489487"/>
            <a:ext cx="1643700" cy="1535100"/>
          </a:xfrm>
          <a:prstGeom prst="rect">
            <a:avLst/>
          </a:prstGeom>
          <a:noFill/>
          <a:ln>
            <a:noFill/>
          </a:ln>
        </p:spPr>
      </p:sp>
      <p:sp>
        <p:nvSpPr>
          <p:cNvPr id="588" name="Google Shape;588;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theme" Target="../theme/theme1.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52" name="Google Shape;52;p13"/>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53" name="Google Shape;53;p13"/>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hyperlink" Target="http://drive.google.com/file/d/150FLoCXtmvFSEA8-obTG3o-hkJqxsGqG/view" TargetMode="Externa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5"/>
          <p:cNvSpPr txBox="1"/>
          <p:nvPr>
            <p:ph type="title"/>
          </p:nvPr>
        </p:nvSpPr>
        <p:spPr>
          <a:xfrm>
            <a:off x="259050" y="2207725"/>
            <a:ext cx="4884600" cy="2050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CUDA:</a:t>
            </a:r>
            <a:r>
              <a:rPr lang="en"/>
              <a:t> </a:t>
            </a:r>
            <a:endParaRPr/>
          </a:p>
          <a:p>
            <a:pPr indent="0" lvl="0" marL="0" rtl="0" algn="l">
              <a:spcBef>
                <a:spcPts val="0"/>
              </a:spcBef>
              <a:spcAft>
                <a:spcPts val="0"/>
              </a:spcAft>
              <a:buNone/>
            </a:pPr>
            <a:r>
              <a:rPr lang="en">
                <a:solidFill>
                  <a:schemeClr val="dk2"/>
                </a:solidFill>
              </a:rPr>
              <a:t>GRAVITY SIMULATION  w Ray Tracing</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56"/>
          <p:cNvSpPr/>
          <p:nvPr/>
        </p:nvSpPr>
        <p:spPr>
          <a:xfrm>
            <a:off x="5462554" y="173096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99" name="Google Shape;599;p56"/>
          <p:cNvSpPr/>
          <p:nvPr/>
        </p:nvSpPr>
        <p:spPr>
          <a:xfrm>
            <a:off x="5462554" y="22499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0" name="Google Shape;600;p56"/>
          <p:cNvSpPr/>
          <p:nvPr/>
        </p:nvSpPr>
        <p:spPr>
          <a:xfrm>
            <a:off x="5462554" y="276891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1" name="Google Shape;601;p56"/>
          <p:cNvSpPr/>
          <p:nvPr/>
        </p:nvSpPr>
        <p:spPr>
          <a:xfrm>
            <a:off x="5462554" y="328788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2" name="Google Shape;602;p56"/>
          <p:cNvSpPr/>
          <p:nvPr/>
        </p:nvSpPr>
        <p:spPr>
          <a:xfrm>
            <a:off x="5462554" y="380686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3" name="Google Shape;603;p56"/>
          <p:cNvSpPr/>
          <p:nvPr/>
        </p:nvSpPr>
        <p:spPr>
          <a:xfrm>
            <a:off x="5462554" y="43258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4" name="Google Shape;604;p56"/>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Introduction</a:t>
            </a:r>
            <a:endParaRPr/>
          </a:p>
        </p:txBody>
      </p:sp>
      <p:sp>
        <p:nvSpPr>
          <p:cNvPr id="605" name="Google Shape;605;p56"/>
          <p:cNvSpPr txBox="1"/>
          <p:nvPr>
            <p:ph type="title"/>
          </p:nvPr>
        </p:nvSpPr>
        <p:spPr>
          <a:xfrm>
            <a:off x="1392600" y="836575"/>
            <a:ext cx="4070100" cy="25653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Shizhe Yang</a:t>
            </a:r>
            <a:endParaRPr/>
          </a:p>
          <a:p>
            <a:pPr indent="0" lvl="0" marL="0" rtl="0" algn="l">
              <a:lnSpc>
                <a:spcPct val="200000"/>
              </a:lnSpc>
              <a:spcBef>
                <a:spcPts val="1700"/>
              </a:spcBef>
              <a:spcAft>
                <a:spcPts val="0"/>
              </a:spcAft>
              <a:buNone/>
            </a:pPr>
            <a:r>
              <a:rPr lang="en" sz="3050">
                <a:highlight>
                  <a:schemeClr val="dk1"/>
                </a:highlight>
                <a:latin typeface="Lato"/>
                <a:ea typeface="Lato"/>
                <a:cs typeface="Lato"/>
                <a:sym typeface="Lato"/>
              </a:rPr>
              <a:t>OLISADEBE OJUKWU</a:t>
            </a:r>
            <a:endParaRPr sz="3050">
              <a:highlight>
                <a:schemeClr val="dk1"/>
              </a:highlight>
              <a:latin typeface="Lato"/>
              <a:ea typeface="Lato"/>
              <a:cs typeface="Lato"/>
              <a:sym typeface="Lato"/>
            </a:endParaRPr>
          </a:p>
          <a:p>
            <a:pPr indent="0" lvl="0" marL="0" rtl="0" algn="l">
              <a:spcBef>
                <a:spcPts val="900"/>
              </a:spcBef>
              <a:spcAft>
                <a:spcPts val="0"/>
              </a:spcAft>
              <a:buNone/>
            </a:pPr>
            <a:r>
              <a:t/>
            </a:r>
            <a:endParaRPr/>
          </a:p>
        </p:txBody>
      </p:sp>
      <p:sp>
        <p:nvSpPr>
          <p:cNvPr id="606" name="Google Shape;606;p56"/>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Methodology</a:t>
            </a:r>
            <a:r>
              <a:rPr lang="en"/>
              <a:t> </a:t>
            </a:r>
            <a:endParaRPr/>
          </a:p>
        </p:txBody>
      </p:sp>
      <p:sp>
        <p:nvSpPr>
          <p:cNvPr id="607" name="Google Shape;607;p56"/>
          <p:cNvSpPr txBox="1"/>
          <p:nvPr>
            <p:ph idx="3" type="subTitle"/>
          </p:nvPr>
        </p:nvSpPr>
        <p:spPr>
          <a:xfrm>
            <a:off x="5623960" y="2769450"/>
            <a:ext cx="2846700" cy="30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Optimization</a:t>
            </a:r>
            <a:endParaRPr/>
          </a:p>
        </p:txBody>
      </p:sp>
      <p:sp>
        <p:nvSpPr>
          <p:cNvPr id="608" name="Google Shape;608;p56"/>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Results</a:t>
            </a:r>
            <a:endParaRPr/>
          </a:p>
        </p:txBody>
      </p:sp>
      <p:sp>
        <p:nvSpPr>
          <p:cNvPr id="609" name="Google Shape;609;p56"/>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Analysis</a:t>
            </a:r>
            <a:endParaRPr/>
          </a:p>
        </p:txBody>
      </p:sp>
      <p:sp>
        <p:nvSpPr>
          <p:cNvPr id="610" name="Google Shape;610;p56"/>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Conclusion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57"/>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CUDA can accelerate calculation in parallel drastically.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acquired the idea of completing a CUDA project through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Mandelbrot homework.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During Mandelbrot homework, we explored ways to optimize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analyze our codes.</a:t>
            </a:r>
            <a:endParaRPr/>
          </a:p>
        </p:txBody>
      </p:sp>
      <p:sp>
        <p:nvSpPr>
          <p:cNvPr id="616" name="Google Shape;616;p57"/>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8"/>
          <p:cNvSpPr txBox="1"/>
          <p:nvPr>
            <p:ph type="title"/>
          </p:nvPr>
        </p:nvSpPr>
        <p:spPr>
          <a:xfrm>
            <a:off x="149225" y="226342"/>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Mandelbrot Idea:</a:t>
            </a:r>
            <a:endParaRPr/>
          </a:p>
        </p:txBody>
      </p:sp>
      <p:pic>
        <p:nvPicPr>
          <p:cNvPr id="622" name="Google Shape;622;p58" title="mandelbrot_cuda_10000_omp_optimized"/>
          <p:cNvPicPr preferRelativeResize="0"/>
          <p:nvPr/>
        </p:nvPicPr>
        <p:blipFill>
          <a:blip r:embed="rId3">
            <a:alphaModFix/>
          </a:blip>
          <a:stretch>
            <a:fillRect/>
          </a:stretch>
        </p:blipFill>
        <p:spPr>
          <a:xfrm>
            <a:off x="3569811" y="1175321"/>
            <a:ext cx="5021773" cy="2792868"/>
          </a:xfrm>
          <a:prstGeom prst="rect">
            <a:avLst/>
          </a:prstGeom>
          <a:noFill/>
          <a:ln>
            <a:noFill/>
          </a:ln>
        </p:spPr>
      </p:pic>
      <p:sp>
        <p:nvSpPr>
          <p:cNvPr id="623" name="Google Shape;623;p58"/>
          <p:cNvSpPr txBox="1"/>
          <p:nvPr>
            <p:ph idx="1" type="subTitle"/>
          </p:nvPr>
        </p:nvSpPr>
        <p:spPr>
          <a:xfrm>
            <a:off x="444103" y="752750"/>
            <a:ext cx="27927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Huge Speed Up</a:t>
            </a:r>
            <a:endParaRPr/>
          </a:p>
        </p:txBody>
      </p:sp>
      <p:sp>
        <p:nvSpPr>
          <p:cNvPr id="624" name="Google Shape;624;p58"/>
          <p:cNvSpPr txBox="1"/>
          <p:nvPr>
            <p:ph idx="5" type="subTitle"/>
          </p:nvPr>
        </p:nvSpPr>
        <p:spPr>
          <a:xfrm>
            <a:off x="444102" y="1190950"/>
            <a:ext cx="27927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Compared to CPU, GPU acceleration is enormous.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Most ideal case: for 100 million </a:t>
            </a:r>
            <a:r>
              <a:rPr lang="en"/>
              <a:t>iterations</a:t>
            </a:r>
            <a:r>
              <a:rPr lang="en"/>
              <a:t>, speed up is 10x.</a:t>
            </a:r>
            <a:endParaRPr/>
          </a:p>
        </p:txBody>
      </p:sp>
      <p:sp>
        <p:nvSpPr>
          <p:cNvPr id="625" name="Google Shape;625;p58"/>
          <p:cNvSpPr txBox="1"/>
          <p:nvPr>
            <p:ph idx="8" type="subTitle"/>
          </p:nvPr>
        </p:nvSpPr>
        <p:spPr>
          <a:xfrm>
            <a:off x="444103" y="2318441"/>
            <a:ext cx="27927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Limitations</a:t>
            </a:r>
            <a:endParaRPr/>
          </a:p>
        </p:txBody>
      </p:sp>
      <p:sp>
        <p:nvSpPr>
          <p:cNvPr id="626" name="Google Shape;626;p58"/>
          <p:cNvSpPr txBox="1"/>
          <p:nvPr>
            <p:ph idx="9" type="subTitle"/>
          </p:nvPr>
        </p:nvSpPr>
        <p:spPr>
          <a:xfrm>
            <a:off x="444102" y="2756641"/>
            <a:ext cx="27927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For GPU, it costs a lot of cycles if some of the threads are idle.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If-else statements will cause some threads to execute while other threads are waiting.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CPU is extremely slow compared to GPU</a:t>
            </a:r>
            <a:endParaRPr/>
          </a:p>
        </p:txBody>
      </p:sp>
      <p:sp>
        <p:nvSpPr>
          <p:cNvPr id="627" name="Google Shape;627;p58"/>
          <p:cNvSpPr txBox="1"/>
          <p:nvPr>
            <p:ph idx="14" type="subTitle"/>
          </p:nvPr>
        </p:nvSpPr>
        <p:spPr>
          <a:xfrm>
            <a:off x="444102" y="4324616"/>
            <a:ext cx="27927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Explain how your product or service helps your persona to achieve their goals and solve their pain points.</a:t>
            </a:r>
            <a:endParaRPr/>
          </a:p>
        </p:txBody>
      </p:sp>
      <p:cxnSp>
        <p:nvCxnSpPr>
          <p:cNvPr id="628" name="Google Shape;628;p58"/>
          <p:cNvCxnSpPr/>
          <p:nvPr/>
        </p:nvCxnSpPr>
        <p:spPr>
          <a:xfrm>
            <a:off x="222675" y="911325"/>
            <a:ext cx="0" cy="3810900"/>
          </a:xfrm>
          <a:prstGeom prst="straightConnector1">
            <a:avLst/>
          </a:prstGeom>
          <a:noFill/>
          <a:ln cap="flat" cmpd="sng" w="9525">
            <a:solidFill>
              <a:schemeClr val="accent6"/>
            </a:solidFill>
            <a:prstDash val="solid"/>
            <a:round/>
            <a:headEnd len="med" w="med" type="none"/>
            <a:tailEnd len="med" w="med" type="none"/>
          </a:ln>
        </p:spPr>
      </p:cxnSp>
      <p:sp>
        <p:nvSpPr>
          <p:cNvPr id="629" name="Google Shape;629;p58"/>
          <p:cNvSpPr/>
          <p:nvPr/>
        </p:nvSpPr>
        <p:spPr>
          <a:xfrm>
            <a:off x="149229" y="245532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630" name="Google Shape;630;p58"/>
          <p:cNvSpPr/>
          <p:nvPr/>
        </p:nvSpPr>
        <p:spPr>
          <a:xfrm>
            <a:off x="149229" y="402212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631" name="Google Shape;631;p58"/>
          <p:cNvSpPr/>
          <p:nvPr/>
        </p:nvSpPr>
        <p:spPr>
          <a:xfrm>
            <a:off x="149229" y="88852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632" name="Google Shape;632;p58"/>
          <p:cNvSpPr txBox="1"/>
          <p:nvPr>
            <p:ph idx="8" type="subTitle"/>
          </p:nvPr>
        </p:nvSpPr>
        <p:spPr>
          <a:xfrm>
            <a:off x="444103" y="3884141"/>
            <a:ext cx="27927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Inspiration</a:t>
            </a:r>
            <a:endParaRPr/>
          </a:p>
        </p:txBody>
      </p:sp>
      <p:sp>
        <p:nvSpPr>
          <p:cNvPr id="633" name="Google Shape;633;p58"/>
          <p:cNvSpPr txBox="1"/>
          <p:nvPr>
            <p:ph idx="9" type="subTitle"/>
          </p:nvPr>
        </p:nvSpPr>
        <p:spPr>
          <a:xfrm>
            <a:off x="444102" y="4250341"/>
            <a:ext cx="27927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GPU has huge advantages over CPU on repeated, single-precision, parallel processing of images. So we want to do a project on CUDA parallel processing on generating gravitational simulation images.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9"/>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We create the gravity simulation based on the naive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Brute-force simulation file provided in ECE451 repo.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Starting from the CPU version, then we convert the CPU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Version to GPU version for acceleration.</a:t>
            </a:r>
            <a:endParaRPr/>
          </a:p>
        </p:txBody>
      </p:sp>
      <p:sp>
        <p:nvSpPr>
          <p:cNvPr id="639" name="Google Shape;639;p59"/>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Methodology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0"/>
          <p:cNvSpPr/>
          <p:nvPr/>
        </p:nvSpPr>
        <p:spPr>
          <a:xfrm>
            <a:off x="0" y="1666500"/>
            <a:ext cx="1308900" cy="17070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spcBef>
                <a:spcPts val="0"/>
              </a:spcBef>
              <a:spcAft>
                <a:spcPts val="0"/>
              </a:spcAft>
              <a:buNone/>
            </a:pPr>
            <a:r>
              <a:t/>
            </a:r>
            <a:endParaRPr sz="1220">
              <a:solidFill>
                <a:schemeClr val="lt1"/>
              </a:solidFill>
              <a:latin typeface="Red Hat Display"/>
              <a:ea typeface="Red Hat Display"/>
              <a:cs typeface="Red Hat Display"/>
              <a:sym typeface="Red Hat Display"/>
            </a:endParaRPr>
          </a:p>
        </p:txBody>
      </p:sp>
      <p:sp>
        <p:nvSpPr>
          <p:cNvPr id="645" name="Google Shape;645;p60"/>
          <p:cNvSpPr/>
          <p:nvPr/>
        </p:nvSpPr>
        <p:spPr>
          <a:xfrm>
            <a:off x="1558712" y="1666500"/>
            <a:ext cx="1308900" cy="17070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spcBef>
                <a:spcPts val="0"/>
              </a:spcBef>
              <a:spcAft>
                <a:spcPts val="0"/>
              </a:spcAft>
              <a:buNone/>
            </a:pPr>
            <a:r>
              <a:t/>
            </a:r>
            <a:endParaRPr sz="1220">
              <a:solidFill>
                <a:schemeClr val="lt1"/>
              </a:solidFill>
              <a:latin typeface="Red Hat Display"/>
              <a:ea typeface="Red Hat Display"/>
              <a:cs typeface="Red Hat Display"/>
              <a:sym typeface="Red Hat Display"/>
            </a:endParaRPr>
          </a:p>
        </p:txBody>
      </p:sp>
      <p:sp>
        <p:nvSpPr>
          <p:cNvPr id="646" name="Google Shape;646;p60"/>
          <p:cNvSpPr/>
          <p:nvPr/>
        </p:nvSpPr>
        <p:spPr>
          <a:xfrm>
            <a:off x="3091719" y="1666500"/>
            <a:ext cx="1308900" cy="17070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spcBef>
                <a:spcPts val="0"/>
              </a:spcBef>
              <a:spcAft>
                <a:spcPts val="0"/>
              </a:spcAft>
              <a:buNone/>
            </a:pPr>
            <a:r>
              <a:t/>
            </a:r>
            <a:endParaRPr sz="1220">
              <a:solidFill>
                <a:schemeClr val="lt1"/>
              </a:solidFill>
              <a:latin typeface="Red Hat Display"/>
              <a:ea typeface="Red Hat Display"/>
              <a:cs typeface="Red Hat Display"/>
              <a:sym typeface="Red Hat Display"/>
            </a:endParaRPr>
          </a:p>
        </p:txBody>
      </p:sp>
      <p:sp>
        <p:nvSpPr>
          <p:cNvPr id="647" name="Google Shape;647;p60"/>
          <p:cNvSpPr/>
          <p:nvPr/>
        </p:nvSpPr>
        <p:spPr>
          <a:xfrm>
            <a:off x="4698223" y="1666500"/>
            <a:ext cx="1308900" cy="17070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spcBef>
                <a:spcPts val="0"/>
              </a:spcBef>
              <a:spcAft>
                <a:spcPts val="0"/>
              </a:spcAft>
              <a:buNone/>
            </a:pPr>
            <a:r>
              <a:t/>
            </a:r>
            <a:endParaRPr sz="1220">
              <a:solidFill>
                <a:schemeClr val="lt1"/>
              </a:solidFill>
              <a:latin typeface="Red Hat Display"/>
              <a:ea typeface="Red Hat Display"/>
              <a:cs typeface="Red Hat Display"/>
              <a:sym typeface="Red Hat Display"/>
            </a:endParaRPr>
          </a:p>
        </p:txBody>
      </p:sp>
      <p:sp>
        <p:nvSpPr>
          <p:cNvPr id="648" name="Google Shape;648;p60"/>
          <p:cNvSpPr/>
          <p:nvPr/>
        </p:nvSpPr>
        <p:spPr>
          <a:xfrm>
            <a:off x="6263476" y="1666500"/>
            <a:ext cx="1308900" cy="17070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spcBef>
                <a:spcPts val="0"/>
              </a:spcBef>
              <a:spcAft>
                <a:spcPts val="0"/>
              </a:spcAft>
              <a:buNone/>
            </a:pPr>
            <a:r>
              <a:t/>
            </a:r>
            <a:endParaRPr sz="1220">
              <a:solidFill>
                <a:schemeClr val="lt1"/>
              </a:solidFill>
              <a:latin typeface="Red Hat Display"/>
              <a:ea typeface="Red Hat Display"/>
              <a:cs typeface="Red Hat Display"/>
              <a:sym typeface="Red Hat Display"/>
            </a:endParaRPr>
          </a:p>
        </p:txBody>
      </p:sp>
      <p:sp>
        <p:nvSpPr>
          <p:cNvPr id="649" name="Google Shape;649;p60"/>
          <p:cNvSpPr/>
          <p:nvPr/>
        </p:nvSpPr>
        <p:spPr>
          <a:xfrm>
            <a:off x="0" y="1666500"/>
            <a:ext cx="1308900" cy="2412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lnSpc>
                <a:spcPct val="90000"/>
              </a:lnSpc>
              <a:spcBef>
                <a:spcPts val="0"/>
              </a:spcBef>
              <a:spcAft>
                <a:spcPts val="0"/>
              </a:spcAft>
              <a:buNone/>
            </a:pPr>
            <a:r>
              <a:t/>
            </a:r>
            <a:endParaRPr sz="872">
              <a:solidFill>
                <a:schemeClr val="dk2"/>
              </a:solidFill>
              <a:latin typeface="Red Hat Display SemiBold"/>
              <a:ea typeface="Red Hat Display SemiBold"/>
              <a:cs typeface="Red Hat Display SemiBold"/>
              <a:sym typeface="Red Hat Display SemiBold"/>
            </a:endParaRPr>
          </a:p>
        </p:txBody>
      </p:sp>
      <p:sp>
        <p:nvSpPr>
          <p:cNvPr id="650" name="Google Shape;650;p60"/>
          <p:cNvSpPr/>
          <p:nvPr/>
        </p:nvSpPr>
        <p:spPr>
          <a:xfrm>
            <a:off x="1558712" y="1666500"/>
            <a:ext cx="1308900" cy="2412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lnSpc>
                <a:spcPct val="90000"/>
              </a:lnSpc>
              <a:spcBef>
                <a:spcPts val="0"/>
              </a:spcBef>
              <a:spcAft>
                <a:spcPts val="0"/>
              </a:spcAft>
              <a:buNone/>
            </a:pPr>
            <a:r>
              <a:t/>
            </a:r>
            <a:endParaRPr sz="872">
              <a:solidFill>
                <a:schemeClr val="dk2"/>
              </a:solidFill>
              <a:latin typeface="Red Hat Display SemiBold"/>
              <a:ea typeface="Red Hat Display SemiBold"/>
              <a:cs typeface="Red Hat Display SemiBold"/>
              <a:sym typeface="Red Hat Display SemiBold"/>
            </a:endParaRPr>
          </a:p>
        </p:txBody>
      </p:sp>
      <p:sp>
        <p:nvSpPr>
          <p:cNvPr id="651" name="Google Shape;651;p60"/>
          <p:cNvSpPr/>
          <p:nvPr/>
        </p:nvSpPr>
        <p:spPr>
          <a:xfrm>
            <a:off x="3091719" y="1666500"/>
            <a:ext cx="1308900" cy="2412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lnSpc>
                <a:spcPct val="90000"/>
              </a:lnSpc>
              <a:spcBef>
                <a:spcPts val="0"/>
              </a:spcBef>
              <a:spcAft>
                <a:spcPts val="0"/>
              </a:spcAft>
              <a:buNone/>
            </a:pPr>
            <a:r>
              <a:t/>
            </a:r>
            <a:endParaRPr sz="872">
              <a:solidFill>
                <a:schemeClr val="dk2"/>
              </a:solidFill>
              <a:latin typeface="Red Hat Display SemiBold"/>
              <a:ea typeface="Red Hat Display SemiBold"/>
              <a:cs typeface="Red Hat Display SemiBold"/>
              <a:sym typeface="Red Hat Display SemiBold"/>
            </a:endParaRPr>
          </a:p>
        </p:txBody>
      </p:sp>
      <p:sp>
        <p:nvSpPr>
          <p:cNvPr id="652" name="Google Shape;652;p60"/>
          <p:cNvSpPr/>
          <p:nvPr/>
        </p:nvSpPr>
        <p:spPr>
          <a:xfrm>
            <a:off x="4698223" y="1666500"/>
            <a:ext cx="1308900" cy="2412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lnSpc>
                <a:spcPct val="90000"/>
              </a:lnSpc>
              <a:spcBef>
                <a:spcPts val="0"/>
              </a:spcBef>
              <a:spcAft>
                <a:spcPts val="0"/>
              </a:spcAft>
              <a:buNone/>
            </a:pPr>
            <a:r>
              <a:t/>
            </a:r>
            <a:endParaRPr sz="872">
              <a:solidFill>
                <a:schemeClr val="dk2"/>
              </a:solidFill>
              <a:latin typeface="Red Hat Display SemiBold"/>
              <a:ea typeface="Red Hat Display SemiBold"/>
              <a:cs typeface="Red Hat Display SemiBold"/>
              <a:sym typeface="Red Hat Display SemiBold"/>
            </a:endParaRPr>
          </a:p>
        </p:txBody>
      </p:sp>
      <p:sp>
        <p:nvSpPr>
          <p:cNvPr id="653" name="Google Shape;653;p60"/>
          <p:cNvSpPr/>
          <p:nvPr/>
        </p:nvSpPr>
        <p:spPr>
          <a:xfrm>
            <a:off x="6263476" y="1666500"/>
            <a:ext cx="1308900" cy="2412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lnSpc>
                <a:spcPct val="90000"/>
              </a:lnSpc>
              <a:spcBef>
                <a:spcPts val="0"/>
              </a:spcBef>
              <a:spcAft>
                <a:spcPts val="0"/>
              </a:spcAft>
              <a:buNone/>
            </a:pPr>
            <a:r>
              <a:t/>
            </a:r>
            <a:endParaRPr sz="872">
              <a:solidFill>
                <a:schemeClr val="dk2"/>
              </a:solidFill>
              <a:latin typeface="Red Hat Display SemiBold"/>
              <a:ea typeface="Red Hat Display SemiBold"/>
              <a:cs typeface="Red Hat Display SemiBold"/>
              <a:sym typeface="Red Hat Display SemiBold"/>
            </a:endParaRPr>
          </a:p>
        </p:txBody>
      </p:sp>
      <p:sp>
        <p:nvSpPr>
          <p:cNvPr id="654" name="Google Shape;654;p60"/>
          <p:cNvSpPr txBox="1"/>
          <p:nvPr>
            <p:ph idx="4294967295" type="subTitle"/>
          </p:nvPr>
        </p:nvSpPr>
        <p:spPr>
          <a:xfrm>
            <a:off x="0" y="1671733"/>
            <a:ext cx="1308900" cy="230700"/>
          </a:xfrm>
          <a:prstGeom prst="rect">
            <a:avLst/>
          </a:prstGeom>
        </p:spPr>
        <p:txBody>
          <a:bodyPr anchorCtr="0" anchor="ctr" bIns="79725" lIns="79725" spcFirstLastPara="1" rIns="79725" wrap="square" tIns="79725">
            <a:noAutofit/>
          </a:bodyPr>
          <a:lstStyle/>
          <a:p>
            <a:pPr indent="0" lvl="0" marL="0" rtl="0" algn="l">
              <a:spcBef>
                <a:spcPts val="0"/>
              </a:spcBef>
              <a:spcAft>
                <a:spcPts val="0"/>
              </a:spcAft>
              <a:buNone/>
            </a:pPr>
            <a:r>
              <a:rPr lang="en" sz="1220"/>
              <a:t>Initial Work</a:t>
            </a:r>
            <a:endParaRPr sz="1220"/>
          </a:p>
        </p:txBody>
      </p:sp>
      <p:sp>
        <p:nvSpPr>
          <p:cNvPr id="655" name="Google Shape;655;p60"/>
          <p:cNvSpPr txBox="1"/>
          <p:nvPr>
            <p:ph idx="4294967295" type="subTitle"/>
          </p:nvPr>
        </p:nvSpPr>
        <p:spPr>
          <a:xfrm>
            <a:off x="1557755" y="1671733"/>
            <a:ext cx="1308900" cy="230700"/>
          </a:xfrm>
          <a:prstGeom prst="rect">
            <a:avLst/>
          </a:prstGeom>
        </p:spPr>
        <p:txBody>
          <a:bodyPr anchorCtr="0" anchor="ctr" bIns="79725" lIns="79725" spcFirstLastPara="1" rIns="79725" wrap="square" tIns="79725">
            <a:noAutofit/>
          </a:bodyPr>
          <a:lstStyle/>
          <a:p>
            <a:pPr indent="0" lvl="0" marL="0" rtl="0" algn="l">
              <a:spcBef>
                <a:spcPts val="0"/>
              </a:spcBef>
              <a:spcAft>
                <a:spcPts val="0"/>
              </a:spcAft>
              <a:buNone/>
            </a:pPr>
            <a:r>
              <a:rPr lang="en" sz="1220"/>
              <a:t>CUDA generate</a:t>
            </a:r>
            <a:endParaRPr sz="1220"/>
          </a:p>
        </p:txBody>
      </p:sp>
      <p:sp>
        <p:nvSpPr>
          <p:cNvPr id="656" name="Google Shape;656;p60"/>
          <p:cNvSpPr txBox="1"/>
          <p:nvPr>
            <p:ph idx="4294967295" type="subTitle"/>
          </p:nvPr>
        </p:nvSpPr>
        <p:spPr>
          <a:xfrm>
            <a:off x="4698224" y="1671733"/>
            <a:ext cx="1308900" cy="230700"/>
          </a:xfrm>
          <a:prstGeom prst="rect">
            <a:avLst/>
          </a:prstGeom>
        </p:spPr>
        <p:txBody>
          <a:bodyPr anchorCtr="0" anchor="ctr" bIns="79725" lIns="79725" spcFirstLastPara="1" rIns="79725" wrap="square" tIns="79725">
            <a:noAutofit/>
          </a:bodyPr>
          <a:lstStyle/>
          <a:p>
            <a:pPr indent="0" lvl="0" marL="0" rtl="0" algn="l">
              <a:spcBef>
                <a:spcPts val="0"/>
              </a:spcBef>
              <a:spcAft>
                <a:spcPts val="0"/>
              </a:spcAft>
              <a:buNone/>
            </a:pPr>
            <a:r>
              <a:rPr lang="en" sz="1220"/>
              <a:t>Results</a:t>
            </a:r>
            <a:endParaRPr sz="1220"/>
          </a:p>
        </p:txBody>
      </p:sp>
      <p:sp>
        <p:nvSpPr>
          <p:cNvPr id="657" name="Google Shape;657;p60"/>
          <p:cNvSpPr txBox="1"/>
          <p:nvPr>
            <p:ph idx="4294967295" type="subTitle"/>
          </p:nvPr>
        </p:nvSpPr>
        <p:spPr>
          <a:xfrm>
            <a:off x="6263477" y="1671733"/>
            <a:ext cx="1308900" cy="230700"/>
          </a:xfrm>
          <a:prstGeom prst="rect">
            <a:avLst/>
          </a:prstGeom>
        </p:spPr>
        <p:txBody>
          <a:bodyPr anchorCtr="0" anchor="ctr" bIns="79725" lIns="79725" spcFirstLastPara="1" rIns="79725" wrap="square" tIns="79725">
            <a:noAutofit/>
          </a:bodyPr>
          <a:lstStyle/>
          <a:p>
            <a:pPr indent="0" lvl="0" marL="0" rtl="0" algn="l">
              <a:spcBef>
                <a:spcPts val="0"/>
              </a:spcBef>
              <a:spcAft>
                <a:spcPts val="0"/>
              </a:spcAft>
              <a:buNone/>
            </a:pPr>
            <a:r>
              <a:rPr lang="en" sz="1220"/>
              <a:t>Analysis</a:t>
            </a:r>
            <a:endParaRPr sz="1220"/>
          </a:p>
        </p:txBody>
      </p:sp>
      <p:sp>
        <p:nvSpPr>
          <p:cNvPr id="658" name="Google Shape;658;p60"/>
          <p:cNvSpPr txBox="1"/>
          <p:nvPr>
            <p:ph idx="4294967295" type="body"/>
          </p:nvPr>
        </p:nvSpPr>
        <p:spPr>
          <a:xfrm>
            <a:off x="148271" y="2007501"/>
            <a:ext cx="1080600" cy="725100"/>
          </a:xfrm>
          <a:prstGeom prst="rect">
            <a:avLst/>
          </a:prstGeom>
        </p:spPr>
        <p:txBody>
          <a:bodyPr anchorCtr="0" anchor="t" bIns="79725" lIns="79725" spcFirstLastPara="1" rIns="79725" wrap="square" tIns="79725">
            <a:noAutofit/>
          </a:bodyPr>
          <a:lstStyle/>
          <a:p>
            <a:pPr indent="0" lvl="0" marL="0" rtl="0" algn="l">
              <a:spcBef>
                <a:spcPts val="0"/>
              </a:spcBef>
              <a:spcAft>
                <a:spcPts val="0"/>
              </a:spcAft>
              <a:buNone/>
            </a:pPr>
            <a:r>
              <a:rPr lang="en" sz="784"/>
              <a:t>Rewrite Gravity Simulator Cpp file.</a:t>
            </a:r>
            <a:endParaRPr sz="784"/>
          </a:p>
          <a:p>
            <a:pPr indent="0" lvl="0" marL="0" rtl="0" algn="l">
              <a:spcBef>
                <a:spcPts val="0"/>
              </a:spcBef>
              <a:spcAft>
                <a:spcPts val="0"/>
              </a:spcAft>
              <a:buNone/>
            </a:pPr>
            <a:r>
              <a:t/>
            </a:r>
            <a:endParaRPr sz="784"/>
          </a:p>
          <a:p>
            <a:pPr indent="0" lvl="0" marL="0" rtl="0" algn="l">
              <a:spcBef>
                <a:spcPts val="0"/>
              </a:spcBef>
              <a:spcAft>
                <a:spcPts val="0"/>
              </a:spcAft>
              <a:buNone/>
            </a:pPr>
            <a:r>
              <a:rPr lang="en" sz="784"/>
              <a:t>Rewrite a header file and put the Planet Body class inside for better readability</a:t>
            </a:r>
            <a:endParaRPr sz="784"/>
          </a:p>
        </p:txBody>
      </p:sp>
      <p:sp>
        <p:nvSpPr>
          <p:cNvPr id="659" name="Google Shape;659;p60"/>
          <p:cNvSpPr txBox="1"/>
          <p:nvPr>
            <p:ph idx="4294967295" type="body"/>
          </p:nvPr>
        </p:nvSpPr>
        <p:spPr>
          <a:xfrm>
            <a:off x="3237392" y="2007501"/>
            <a:ext cx="1080600" cy="725100"/>
          </a:xfrm>
          <a:prstGeom prst="rect">
            <a:avLst/>
          </a:prstGeom>
        </p:spPr>
        <p:txBody>
          <a:bodyPr anchorCtr="0" anchor="t" bIns="79725" lIns="79725" spcFirstLastPara="1" rIns="79725" wrap="square" tIns="79725">
            <a:noAutofit/>
          </a:bodyPr>
          <a:lstStyle/>
          <a:p>
            <a:pPr indent="0" lvl="0" marL="0" rtl="0" algn="l">
              <a:spcBef>
                <a:spcPts val="0"/>
              </a:spcBef>
              <a:spcAft>
                <a:spcPts val="0"/>
              </a:spcAft>
              <a:buNone/>
            </a:pPr>
            <a:r>
              <a:rPr lang="en" sz="784"/>
              <a:t>Optimize CUDA codes. Understand the bottleneck of CUDA kernel executions</a:t>
            </a:r>
            <a:endParaRPr sz="784"/>
          </a:p>
        </p:txBody>
      </p:sp>
      <p:sp>
        <p:nvSpPr>
          <p:cNvPr id="660" name="Google Shape;660;p60"/>
          <p:cNvSpPr txBox="1"/>
          <p:nvPr>
            <p:ph idx="4294967295" type="body"/>
          </p:nvPr>
        </p:nvSpPr>
        <p:spPr>
          <a:xfrm>
            <a:off x="4800500" y="2007500"/>
            <a:ext cx="1136700" cy="725100"/>
          </a:xfrm>
          <a:prstGeom prst="rect">
            <a:avLst/>
          </a:prstGeom>
        </p:spPr>
        <p:txBody>
          <a:bodyPr anchorCtr="0" anchor="t" bIns="79725" lIns="79725" spcFirstLastPara="1" rIns="79725" wrap="square" tIns="79725">
            <a:noAutofit/>
          </a:bodyPr>
          <a:lstStyle/>
          <a:p>
            <a:pPr indent="0" lvl="0" marL="0" rtl="0" algn="l">
              <a:spcBef>
                <a:spcPts val="0"/>
              </a:spcBef>
              <a:spcAft>
                <a:spcPts val="0"/>
              </a:spcAft>
              <a:buNone/>
            </a:pPr>
            <a:r>
              <a:rPr lang="en" sz="784"/>
              <a:t>Generate output file to store the planets’ velocities and positions.</a:t>
            </a:r>
            <a:endParaRPr sz="784"/>
          </a:p>
          <a:p>
            <a:pPr indent="0" lvl="0" marL="0" rtl="0" algn="l">
              <a:spcBef>
                <a:spcPts val="0"/>
              </a:spcBef>
              <a:spcAft>
                <a:spcPts val="0"/>
              </a:spcAft>
              <a:buNone/>
            </a:pPr>
            <a:r>
              <a:t/>
            </a:r>
            <a:endParaRPr sz="784"/>
          </a:p>
          <a:p>
            <a:pPr indent="0" lvl="0" marL="0" rtl="0" algn="l">
              <a:spcBef>
                <a:spcPts val="0"/>
              </a:spcBef>
              <a:spcAft>
                <a:spcPts val="0"/>
              </a:spcAft>
              <a:buNone/>
            </a:pPr>
            <a:r>
              <a:rPr lang="en" sz="784"/>
              <a:t>Based on the positions and velocities, generate each frame and convert it with ffmpeg</a:t>
            </a:r>
            <a:endParaRPr sz="784"/>
          </a:p>
        </p:txBody>
      </p:sp>
      <p:sp>
        <p:nvSpPr>
          <p:cNvPr id="661" name="Google Shape;661;p60"/>
          <p:cNvSpPr txBox="1"/>
          <p:nvPr>
            <p:ph idx="4294967295" type="body"/>
          </p:nvPr>
        </p:nvSpPr>
        <p:spPr>
          <a:xfrm>
            <a:off x="6416867" y="2007501"/>
            <a:ext cx="1080600" cy="725100"/>
          </a:xfrm>
          <a:prstGeom prst="rect">
            <a:avLst/>
          </a:prstGeom>
        </p:spPr>
        <p:txBody>
          <a:bodyPr anchorCtr="0" anchor="t" bIns="79725" lIns="79725" spcFirstLastPara="1" rIns="79725" wrap="square" tIns="79725">
            <a:noAutofit/>
          </a:bodyPr>
          <a:lstStyle/>
          <a:p>
            <a:pPr indent="0" lvl="0" marL="0" rtl="0" algn="l">
              <a:spcBef>
                <a:spcPts val="0"/>
              </a:spcBef>
              <a:spcAft>
                <a:spcPts val="0"/>
              </a:spcAft>
              <a:buNone/>
            </a:pPr>
            <a:r>
              <a:rPr lang="en" sz="784"/>
              <a:t>Benchmark performance by comparing CPU and GPU, and GPU with optimization techniques.</a:t>
            </a:r>
            <a:endParaRPr sz="784"/>
          </a:p>
          <a:p>
            <a:pPr indent="0" lvl="0" marL="0" rtl="0" algn="l">
              <a:spcBef>
                <a:spcPts val="0"/>
              </a:spcBef>
              <a:spcAft>
                <a:spcPts val="0"/>
              </a:spcAft>
              <a:buNone/>
            </a:pPr>
            <a:r>
              <a:t/>
            </a:r>
            <a:endParaRPr sz="784"/>
          </a:p>
          <a:p>
            <a:pPr indent="0" lvl="0" marL="0" rtl="0" algn="l">
              <a:spcBef>
                <a:spcPts val="0"/>
              </a:spcBef>
              <a:spcAft>
                <a:spcPts val="0"/>
              </a:spcAft>
              <a:buNone/>
            </a:pPr>
            <a:r>
              <a:rPr lang="en" sz="784"/>
              <a:t>Use Nsight compute to acquire </a:t>
            </a:r>
            <a:r>
              <a:rPr lang="en" sz="784"/>
              <a:t>more</a:t>
            </a:r>
            <a:r>
              <a:rPr lang="en" sz="784"/>
              <a:t> detailed analysis</a:t>
            </a:r>
            <a:endParaRPr sz="784"/>
          </a:p>
        </p:txBody>
      </p:sp>
      <p:sp>
        <p:nvSpPr>
          <p:cNvPr id="662" name="Google Shape;662;p60"/>
          <p:cNvSpPr txBox="1"/>
          <p:nvPr>
            <p:ph type="title"/>
          </p:nvPr>
        </p:nvSpPr>
        <p:spPr>
          <a:xfrm>
            <a:off x="228600" y="364442"/>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Workflow</a:t>
            </a:r>
            <a:endParaRPr/>
          </a:p>
        </p:txBody>
      </p:sp>
      <p:cxnSp>
        <p:nvCxnSpPr>
          <p:cNvPr id="663" name="Google Shape;663;p60"/>
          <p:cNvCxnSpPr>
            <a:stCxn id="644" idx="0"/>
            <a:endCxn id="645" idx="2"/>
          </p:cNvCxnSpPr>
          <p:nvPr/>
        </p:nvCxnSpPr>
        <p:spPr>
          <a:xfrm>
            <a:off x="1308900" y="2520000"/>
            <a:ext cx="249900" cy="0"/>
          </a:xfrm>
          <a:prstGeom prst="straightConnector1">
            <a:avLst/>
          </a:prstGeom>
          <a:noFill/>
          <a:ln cap="flat" cmpd="sng" w="8300">
            <a:solidFill>
              <a:schemeClr val="dk2"/>
            </a:solidFill>
            <a:prstDash val="solid"/>
            <a:round/>
            <a:headEnd len="med" w="med" type="none"/>
            <a:tailEnd len="med" w="med" type="stealth"/>
          </a:ln>
        </p:spPr>
      </p:cxnSp>
      <p:cxnSp>
        <p:nvCxnSpPr>
          <p:cNvPr id="664" name="Google Shape;664;p60"/>
          <p:cNvCxnSpPr>
            <a:endCxn id="646" idx="2"/>
          </p:cNvCxnSpPr>
          <p:nvPr/>
        </p:nvCxnSpPr>
        <p:spPr>
          <a:xfrm>
            <a:off x="2877819" y="2520000"/>
            <a:ext cx="213900" cy="0"/>
          </a:xfrm>
          <a:prstGeom prst="straightConnector1">
            <a:avLst/>
          </a:prstGeom>
          <a:noFill/>
          <a:ln cap="flat" cmpd="sng" w="8300">
            <a:solidFill>
              <a:schemeClr val="dk2"/>
            </a:solidFill>
            <a:prstDash val="solid"/>
            <a:round/>
            <a:headEnd len="med" w="med" type="none"/>
            <a:tailEnd len="med" w="med" type="stealth"/>
          </a:ln>
        </p:spPr>
      </p:cxnSp>
      <p:cxnSp>
        <p:nvCxnSpPr>
          <p:cNvPr id="665" name="Google Shape;665;p60"/>
          <p:cNvCxnSpPr/>
          <p:nvPr/>
        </p:nvCxnSpPr>
        <p:spPr>
          <a:xfrm>
            <a:off x="4424509" y="2520092"/>
            <a:ext cx="249900" cy="0"/>
          </a:xfrm>
          <a:prstGeom prst="straightConnector1">
            <a:avLst/>
          </a:prstGeom>
          <a:noFill/>
          <a:ln cap="flat" cmpd="sng" w="8300">
            <a:solidFill>
              <a:schemeClr val="dk2"/>
            </a:solidFill>
            <a:prstDash val="solid"/>
            <a:round/>
            <a:headEnd len="med" w="med" type="none"/>
            <a:tailEnd len="med" w="med" type="stealth"/>
          </a:ln>
        </p:spPr>
      </p:cxnSp>
      <p:cxnSp>
        <p:nvCxnSpPr>
          <p:cNvPr id="666" name="Google Shape;666;p60"/>
          <p:cNvCxnSpPr/>
          <p:nvPr/>
        </p:nvCxnSpPr>
        <p:spPr>
          <a:xfrm>
            <a:off x="6007182" y="2555631"/>
            <a:ext cx="249900" cy="0"/>
          </a:xfrm>
          <a:prstGeom prst="straightConnector1">
            <a:avLst/>
          </a:prstGeom>
          <a:noFill/>
          <a:ln cap="flat" cmpd="sng" w="8300">
            <a:solidFill>
              <a:schemeClr val="dk2"/>
            </a:solidFill>
            <a:prstDash val="solid"/>
            <a:round/>
            <a:headEnd len="med" w="med" type="none"/>
            <a:tailEnd len="med" w="med" type="stealth"/>
          </a:ln>
        </p:spPr>
      </p:cxnSp>
      <p:sp>
        <p:nvSpPr>
          <p:cNvPr id="667" name="Google Shape;667;p60"/>
          <p:cNvSpPr txBox="1"/>
          <p:nvPr>
            <p:ph idx="4294967295" type="subTitle"/>
          </p:nvPr>
        </p:nvSpPr>
        <p:spPr>
          <a:xfrm>
            <a:off x="3091720" y="1671733"/>
            <a:ext cx="1308900" cy="230700"/>
          </a:xfrm>
          <a:prstGeom prst="rect">
            <a:avLst/>
          </a:prstGeom>
        </p:spPr>
        <p:txBody>
          <a:bodyPr anchorCtr="0" anchor="ctr" bIns="79725" lIns="79725" spcFirstLastPara="1" rIns="79725" wrap="square" tIns="79725">
            <a:noAutofit/>
          </a:bodyPr>
          <a:lstStyle/>
          <a:p>
            <a:pPr indent="0" lvl="0" marL="0" rtl="0" algn="l">
              <a:spcBef>
                <a:spcPts val="0"/>
              </a:spcBef>
              <a:spcAft>
                <a:spcPts val="0"/>
              </a:spcAft>
              <a:buNone/>
            </a:pPr>
            <a:r>
              <a:rPr lang="en" sz="1220"/>
              <a:t>Optimization</a:t>
            </a:r>
            <a:endParaRPr sz="1220"/>
          </a:p>
        </p:txBody>
      </p:sp>
      <p:sp>
        <p:nvSpPr>
          <p:cNvPr id="668" name="Google Shape;668;p60"/>
          <p:cNvSpPr/>
          <p:nvPr/>
        </p:nvSpPr>
        <p:spPr>
          <a:xfrm>
            <a:off x="7834969" y="1666500"/>
            <a:ext cx="1308900" cy="17070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spcBef>
                <a:spcPts val="0"/>
              </a:spcBef>
              <a:spcAft>
                <a:spcPts val="0"/>
              </a:spcAft>
              <a:buNone/>
            </a:pPr>
            <a:r>
              <a:t/>
            </a:r>
            <a:endParaRPr sz="1220">
              <a:solidFill>
                <a:schemeClr val="lt1"/>
              </a:solidFill>
              <a:latin typeface="Red Hat Display"/>
              <a:ea typeface="Red Hat Display"/>
              <a:cs typeface="Red Hat Display"/>
              <a:sym typeface="Red Hat Display"/>
            </a:endParaRPr>
          </a:p>
        </p:txBody>
      </p:sp>
      <p:sp>
        <p:nvSpPr>
          <p:cNvPr id="669" name="Google Shape;669;p60"/>
          <p:cNvSpPr/>
          <p:nvPr/>
        </p:nvSpPr>
        <p:spPr>
          <a:xfrm>
            <a:off x="7834969" y="1666500"/>
            <a:ext cx="1308900" cy="2412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9725" lIns="79725" spcFirstLastPara="1" rIns="79725" wrap="square" tIns="79725">
            <a:noAutofit/>
          </a:bodyPr>
          <a:lstStyle/>
          <a:p>
            <a:pPr indent="0" lvl="0" marL="0" rtl="0" algn="ctr">
              <a:lnSpc>
                <a:spcPct val="90000"/>
              </a:lnSpc>
              <a:spcBef>
                <a:spcPts val="0"/>
              </a:spcBef>
              <a:spcAft>
                <a:spcPts val="0"/>
              </a:spcAft>
              <a:buNone/>
            </a:pPr>
            <a:r>
              <a:t/>
            </a:r>
            <a:endParaRPr sz="872">
              <a:solidFill>
                <a:schemeClr val="dk2"/>
              </a:solidFill>
              <a:latin typeface="Red Hat Display SemiBold"/>
              <a:ea typeface="Red Hat Display SemiBold"/>
              <a:cs typeface="Red Hat Display SemiBold"/>
              <a:sym typeface="Red Hat Display SemiBold"/>
            </a:endParaRPr>
          </a:p>
        </p:txBody>
      </p:sp>
      <p:sp>
        <p:nvSpPr>
          <p:cNvPr id="670" name="Google Shape;670;p60"/>
          <p:cNvSpPr txBox="1"/>
          <p:nvPr>
            <p:ph idx="4294967295" type="subTitle"/>
          </p:nvPr>
        </p:nvSpPr>
        <p:spPr>
          <a:xfrm>
            <a:off x="7834971" y="1671733"/>
            <a:ext cx="1308900" cy="230700"/>
          </a:xfrm>
          <a:prstGeom prst="rect">
            <a:avLst/>
          </a:prstGeom>
        </p:spPr>
        <p:txBody>
          <a:bodyPr anchorCtr="0" anchor="ctr" bIns="79725" lIns="79725" spcFirstLastPara="1" rIns="79725" wrap="square" tIns="79725">
            <a:noAutofit/>
          </a:bodyPr>
          <a:lstStyle/>
          <a:p>
            <a:pPr indent="0" lvl="0" marL="0" rtl="0" algn="l">
              <a:spcBef>
                <a:spcPts val="0"/>
              </a:spcBef>
              <a:spcAft>
                <a:spcPts val="0"/>
              </a:spcAft>
              <a:buNone/>
            </a:pPr>
            <a:r>
              <a:rPr lang="en" sz="1220"/>
              <a:t>Conclusion</a:t>
            </a:r>
            <a:endParaRPr sz="1220"/>
          </a:p>
        </p:txBody>
      </p:sp>
      <p:sp>
        <p:nvSpPr>
          <p:cNvPr id="671" name="Google Shape;671;p60"/>
          <p:cNvSpPr txBox="1"/>
          <p:nvPr>
            <p:ph idx="4294967295" type="body"/>
          </p:nvPr>
        </p:nvSpPr>
        <p:spPr>
          <a:xfrm>
            <a:off x="7988360" y="2007501"/>
            <a:ext cx="1080600" cy="725100"/>
          </a:xfrm>
          <a:prstGeom prst="rect">
            <a:avLst/>
          </a:prstGeom>
        </p:spPr>
        <p:txBody>
          <a:bodyPr anchorCtr="0" anchor="t" bIns="79725" lIns="79725" spcFirstLastPara="1" rIns="79725" wrap="square" tIns="79725">
            <a:noAutofit/>
          </a:bodyPr>
          <a:lstStyle/>
          <a:p>
            <a:pPr indent="0" lvl="0" marL="0" rtl="0" algn="l">
              <a:spcBef>
                <a:spcPts val="0"/>
              </a:spcBef>
              <a:spcAft>
                <a:spcPts val="0"/>
              </a:spcAft>
              <a:buNone/>
            </a:pPr>
            <a:r>
              <a:rPr lang="en" sz="784"/>
              <a:t>What we have learned from this project.</a:t>
            </a:r>
            <a:endParaRPr sz="784"/>
          </a:p>
          <a:p>
            <a:pPr indent="0" lvl="0" marL="0" rtl="0" algn="l">
              <a:spcBef>
                <a:spcPts val="0"/>
              </a:spcBef>
              <a:spcAft>
                <a:spcPts val="0"/>
              </a:spcAft>
              <a:buNone/>
            </a:pPr>
            <a:r>
              <a:t/>
            </a:r>
            <a:endParaRPr sz="784"/>
          </a:p>
          <a:p>
            <a:pPr indent="0" lvl="0" marL="0" rtl="0" algn="l">
              <a:spcBef>
                <a:spcPts val="0"/>
              </a:spcBef>
              <a:spcAft>
                <a:spcPts val="0"/>
              </a:spcAft>
              <a:buNone/>
            </a:pPr>
            <a:r>
              <a:rPr lang="en" sz="784"/>
              <a:t>What can we improve in the future. (Algorithm and CUDA logics)</a:t>
            </a:r>
            <a:endParaRPr sz="784"/>
          </a:p>
        </p:txBody>
      </p:sp>
      <p:cxnSp>
        <p:nvCxnSpPr>
          <p:cNvPr id="672" name="Google Shape;672;p60"/>
          <p:cNvCxnSpPr/>
          <p:nvPr/>
        </p:nvCxnSpPr>
        <p:spPr>
          <a:xfrm>
            <a:off x="7578676" y="2555631"/>
            <a:ext cx="249900" cy="0"/>
          </a:xfrm>
          <a:prstGeom prst="straightConnector1">
            <a:avLst/>
          </a:prstGeom>
          <a:noFill/>
          <a:ln cap="flat" cmpd="sng" w="8300">
            <a:solidFill>
              <a:schemeClr val="dk2"/>
            </a:solidFill>
            <a:prstDash val="solid"/>
            <a:round/>
            <a:headEnd len="med" w="med" type="none"/>
            <a:tailEnd len="med" w="med" type="stealth"/>
          </a:ln>
        </p:spPr>
      </p:cxnSp>
      <p:sp>
        <p:nvSpPr>
          <p:cNvPr id="673" name="Google Shape;673;p60"/>
          <p:cNvSpPr txBox="1"/>
          <p:nvPr>
            <p:ph idx="4294967295" type="body"/>
          </p:nvPr>
        </p:nvSpPr>
        <p:spPr>
          <a:xfrm>
            <a:off x="1678008" y="2007501"/>
            <a:ext cx="1080600" cy="725100"/>
          </a:xfrm>
          <a:prstGeom prst="rect">
            <a:avLst/>
          </a:prstGeom>
        </p:spPr>
        <p:txBody>
          <a:bodyPr anchorCtr="0" anchor="t" bIns="79725" lIns="79725" spcFirstLastPara="1" rIns="79725" wrap="square" tIns="79725">
            <a:noAutofit/>
          </a:bodyPr>
          <a:lstStyle/>
          <a:p>
            <a:pPr indent="0" lvl="0" marL="0" rtl="0" algn="l">
              <a:spcBef>
                <a:spcPts val="0"/>
              </a:spcBef>
              <a:spcAft>
                <a:spcPts val="0"/>
              </a:spcAft>
              <a:buNone/>
            </a:pPr>
            <a:r>
              <a:rPr lang="en" sz="784"/>
              <a:t>Based on the brute-force Cpp file, rewrite it into CUDA functions.</a:t>
            </a:r>
            <a:endParaRPr sz="784"/>
          </a:p>
          <a:p>
            <a:pPr indent="0" lvl="0" marL="0" rtl="0" algn="l">
              <a:spcBef>
                <a:spcPts val="0"/>
              </a:spcBef>
              <a:spcAft>
                <a:spcPts val="0"/>
              </a:spcAft>
              <a:buNone/>
            </a:pPr>
            <a:r>
              <a:t/>
            </a:r>
            <a:endParaRPr sz="784"/>
          </a:p>
          <a:p>
            <a:pPr indent="0" lvl="0" marL="0" rtl="0" algn="l">
              <a:spcBef>
                <a:spcPts val="0"/>
              </a:spcBef>
              <a:spcAft>
                <a:spcPts val="0"/>
              </a:spcAft>
              <a:buNone/>
            </a:pPr>
            <a:r>
              <a:rPr lang="en" sz="784"/>
              <a:t>For both velocity-position generation and frame rendering</a:t>
            </a:r>
            <a:endParaRPr sz="784"/>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1"/>
          <p:cNvSpPr txBox="1"/>
          <p:nvPr>
            <p:ph type="title"/>
          </p:nvPr>
        </p:nvSpPr>
        <p:spPr>
          <a:xfrm>
            <a:off x="228600" y="420017"/>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Working </a:t>
            </a:r>
            <a:r>
              <a:rPr lang="en"/>
              <a:t>Environment</a:t>
            </a:r>
            <a:r>
              <a:rPr lang="en"/>
              <a:t> Setup</a:t>
            </a:r>
            <a:endParaRPr/>
          </a:p>
        </p:txBody>
      </p:sp>
      <p:sp>
        <p:nvSpPr>
          <p:cNvPr id="679" name="Google Shape;679;p61"/>
          <p:cNvSpPr/>
          <p:nvPr/>
        </p:nvSpPr>
        <p:spPr>
          <a:xfrm>
            <a:off x="1186971" y="1470875"/>
            <a:ext cx="3321300" cy="1448400"/>
          </a:xfrm>
          <a:prstGeom prst="snip1Rect">
            <a:avLst>
              <a:gd fmla="val 18586" name="adj"/>
            </a:avLst>
          </a:prstGeom>
          <a:solidFill>
            <a:schemeClr val="accent5"/>
          </a:solidFill>
          <a:ln>
            <a:noFill/>
          </a:ln>
        </p:spPr>
        <p:txBody>
          <a:bodyPr anchorCtr="0" anchor="ctr" bIns="103025" lIns="103025" spcFirstLastPara="1" rIns="103025" wrap="square" tIns="103025">
            <a:noAutofit/>
          </a:bodyPr>
          <a:lstStyle/>
          <a:p>
            <a:pPr indent="0" lvl="0" marL="0" rtl="0" algn="ctr">
              <a:spcBef>
                <a:spcPts val="0"/>
              </a:spcBef>
              <a:spcAft>
                <a:spcPts val="0"/>
              </a:spcAft>
              <a:buNone/>
            </a:pPr>
            <a:r>
              <a:t/>
            </a:r>
            <a:endParaRPr sz="1577">
              <a:solidFill>
                <a:schemeClr val="lt1"/>
              </a:solidFill>
              <a:latin typeface="Red Hat Display"/>
              <a:ea typeface="Red Hat Display"/>
              <a:cs typeface="Red Hat Display"/>
              <a:sym typeface="Red Hat Display"/>
            </a:endParaRPr>
          </a:p>
        </p:txBody>
      </p:sp>
      <p:sp>
        <p:nvSpPr>
          <p:cNvPr id="680" name="Google Shape;680;p61"/>
          <p:cNvSpPr/>
          <p:nvPr/>
        </p:nvSpPr>
        <p:spPr>
          <a:xfrm>
            <a:off x="384775" y="1478481"/>
            <a:ext cx="802200" cy="1433400"/>
          </a:xfrm>
          <a:prstGeom prst="snip2DiagRect">
            <a:avLst>
              <a:gd fmla="val 0" name="adj1"/>
              <a:gd fmla="val 40297" name="adj2"/>
            </a:avLst>
          </a:prstGeom>
          <a:solidFill>
            <a:schemeClr val="dk1"/>
          </a:solidFill>
          <a:ln cap="flat" cmpd="sng" w="21475">
            <a:solidFill>
              <a:schemeClr val="accent5"/>
            </a:solidFill>
            <a:prstDash val="solid"/>
            <a:round/>
            <a:headEnd len="sm" w="sm" type="none"/>
            <a:tailEnd len="sm" w="sm" type="none"/>
          </a:ln>
        </p:spPr>
        <p:txBody>
          <a:bodyPr anchorCtr="0" anchor="ctr" bIns="103025" lIns="103025" spcFirstLastPara="1" rIns="103025" wrap="square" tIns="103025">
            <a:noAutofit/>
          </a:bodyPr>
          <a:lstStyle/>
          <a:p>
            <a:pPr indent="0" lvl="0" marL="0" rtl="0" algn="ctr">
              <a:spcBef>
                <a:spcPts val="0"/>
              </a:spcBef>
              <a:spcAft>
                <a:spcPts val="0"/>
              </a:spcAft>
              <a:buNone/>
            </a:pPr>
            <a:r>
              <a:t/>
            </a:r>
            <a:endParaRPr sz="1577">
              <a:solidFill>
                <a:schemeClr val="dk1"/>
              </a:solidFill>
              <a:latin typeface="Red Hat Display"/>
              <a:ea typeface="Red Hat Display"/>
              <a:cs typeface="Red Hat Display"/>
              <a:sym typeface="Red Hat Display"/>
            </a:endParaRPr>
          </a:p>
        </p:txBody>
      </p:sp>
      <p:sp>
        <p:nvSpPr>
          <p:cNvPr id="681" name="Google Shape;681;p61"/>
          <p:cNvSpPr txBox="1"/>
          <p:nvPr>
            <p:ph idx="4294967295" type="subTitle"/>
          </p:nvPr>
        </p:nvSpPr>
        <p:spPr>
          <a:xfrm>
            <a:off x="390184" y="1757881"/>
            <a:ext cx="791400" cy="874500"/>
          </a:xfrm>
          <a:prstGeom prst="rect">
            <a:avLst/>
          </a:prstGeom>
        </p:spPr>
        <p:txBody>
          <a:bodyPr anchorCtr="0" anchor="t" bIns="103025" lIns="103025" spcFirstLastPara="1" rIns="103025" wrap="square" tIns="103025">
            <a:noAutofit/>
          </a:bodyPr>
          <a:lstStyle/>
          <a:p>
            <a:pPr indent="0" lvl="0" marL="0" rtl="0" algn="l">
              <a:spcBef>
                <a:spcPts val="0"/>
              </a:spcBef>
              <a:spcAft>
                <a:spcPts val="0"/>
              </a:spcAft>
              <a:buNone/>
            </a:pPr>
            <a:r>
              <a:rPr lang="en" sz="1077"/>
              <a:t>CPU</a:t>
            </a:r>
            <a:endParaRPr sz="1077"/>
          </a:p>
        </p:txBody>
      </p:sp>
      <p:sp>
        <p:nvSpPr>
          <p:cNvPr id="682" name="Google Shape;682;p61"/>
          <p:cNvSpPr txBox="1"/>
          <p:nvPr>
            <p:ph idx="4294967295" type="subTitle"/>
          </p:nvPr>
        </p:nvSpPr>
        <p:spPr>
          <a:xfrm>
            <a:off x="1414479" y="1743542"/>
            <a:ext cx="2792100" cy="662100"/>
          </a:xfrm>
          <a:prstGeom prst="rect">
            <a:avLst/>
          </a:prstGeom>
        </p:spPr>
        <p:txBody>
          <a:bodyPr anchorCtr="0" anchor="t" bIns="103025" lIns="103025" spcFirstLastPara="1" rIns="103025" wrap="square" tIns="103025">
            <a:noAutofit/>
          </a:bodyPr>
          <a:lstStyle/>
          <a:p>
            <a:pPr indent="0" lvl="0" marL="0" rtl="0" algn="l">
              <a:spcBef>
                <a:spcPts val="0"/>
              </a:spcBef>
              <a:spcAft>
                <a:spcPts val="0"/>
              </a:spcAft>
              <a:buNone/>
            </a:pPr>
            <a:r>
              <a:rPr lang="en" sz="877"/>
              <a:t>INTEL I7-12700K(5.0Ghz max frequency)</a:t>
            </a:r>
            <a:endParaRPr sz="877"/>
          </a:p>
          <a:p>
            <a:pPr indent="0" lvl="0" marL="0" rtl="0" algn="l">
              <a:spcBef>
                <a:spcPts val="0"/>
              </a:spcBef>
              <a:spcAft>
                <a:spcPts val="0"/>
              </a:spcAft>
              <a:buNone/>
            </a:pPr>
            <a:r>
              <a:rPr lang="en" sz="877"/>
              <a:t>AVX-2(AVX512 BLOCKED)</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64GB DDR5-4000Mhz</a:t>
            </a:r>
            <a:endParaRPr sz="877"/>
          </a:p>
        </p:txBody>
      </p:sp>
      <p:sp>
        <p:nvSpPr>
          <p:cNvPr id="683" name="Google Shape;683;p61"/>
          <p:cNvSpPr/>
          <p:nvPr/>
        </p:nvSpPr>
        <p:spPr>
          <a:xfrm>
            <a:off x="5437933" y="1470875"/>
            <a:ext cx="3321300" cy="1448400"/>
          </a:xfrm>
          <a:prstGeom prst="snip1Rect">
            <a:avLst>
              <a:gd fmla="val 18586" name="adj"/>
            </a:avLst>
          </a:prstGeom>
          <a:solidFill>
            <a:schemeClr val="accent5"/>
          </a:solidFill>
          <a:ln>
            <a:noFill/>
          </a:ln>
        </p:spPr>
        <p:txBody>
          <a:bodyPr anchorCtr="0" anchor="ctr" bIns="103025" lIns="103025" spcFirstLastPara="1" rIns="103025" wrap="square" tIns="103025">
            <a:noAutofit/>
          </a:bodyPr>
          <a:lstStyle/>
          <a:p>
            <a:pPr indent="0" lvl="0" marL="0" rtl="0" algn="ctr">
              <a:spcBef>
                <a:spcPts val="0"/>
              </a:spcBef>
              <a:spcAft>
                <a:spcPts val="0"/>
              </a:spcAft>
              <a:buNone/>
            </a:pPr>
            <a:r>
              <a:t/>
            </a:r>
            <a:endParaRPr sz="1577">
              <a:solidFill>
                <a:schemeClr val="lt1"/>
              </a:solidFill>
              <a:latin typeface="Red Hat Display"/>
              <a:ea typeface="Red Hat Display"/>
              <a:cs typeface="Red Hat Display"/>
              <a:sym typeface="Red Hat Display"/>
            </a:endParaRPr>
          </a:p>
        </p:txBody>
      </p:sp>
      <p:sp>
        <p:nvSpPr>
          <p:cNvPr id="684" name="Google Shape;684;p61"/>
          <p:cNvSpPr/>
          <p:nvPr/>
        </p:nvSpPr>
        <p:spPr>
          <a:xfrm>
            <a:off x="4635775" y="1478481"/>
            <a:ext cx="802200" cy="1433400"/>
          </a:xfrm>
          <a:prstGeom prst="snip2DiagRect">
            <a:avLst>
              <a:gd fmla="val 0" name="adj1"/>
              <a:gd fmla="val 40297" name="adj2"/>
            </a:avLst>
          </a:prstGeom>
          <a:solidFill>
            <a:schemeClr val="dk1"/>
          </a:solidFill>
          <a:ln cap="flat" cmpd="sng" w="21450">
            <a:solidFill>
              <a:schemeClr val="accent5"/>
            </a:solidFill>
            <a:prstDash val="solid"/>
            <a:round/>
            <a:headEnd len="sm" w="sm" type="none"/>
            <a:tailEnd len="sm" w="sm" type="none"/>
          </a:ln>
        </p:spPr>
        <p:txBody>
          <a:bodyPr anchorCtr="0" anchor="ctr" bIns="103025" lIns="103025" spcFirstLastPara="1" rIns="103025" wrap="square" tIns="103025">
            <a:noAutofit/>
          </a:bodyPr>
          <a:lstStyle/>
          <a:p>
            <a:pPr indent="0" lvl="0" marL="0" rtl="0" algn="ctr">
              <a:spcBef>
                <a:spcPts val="0"/>
              </a:spcBef>
              <a:spcAft>
                <a:spcPts val="0"/>
              </a:spcAft>
              <a:buNone/>
            </a:pPr>
            <a:r>
              <a:t/>
            </a:r>
            <a:endParaRPr sz="1577">
              <a:solidFill>
                <a:schemeClr val="dk1"/>
              </a:solidFill>
              <a:latin typeface="Red Hat Display"/>
              <a:ea typeface="Red Hat Display"/>
              <a:cs typeface="Red Hat Display"/>
              <a:sym typeface="Red Hat Display"/>
            </a:endParaRPr>
          </a:p>
        </p:txBody>
      </p:sp>
      <p:sp>
        <p:nvSpPr>
          <p:cNvPr id="685" name="Google Shape;685;p61"/>
          <p:cNvSpPr txBox="1"/>
          <p:nvPr>
            <p:ph idx="4294967295" type="subTitle"/>
          </p:nvPr>
        </p:nvSpPr>
        <p:spPr>
          <a:xfrm>
            <a:off x="4641184" y="1757867"/>
            <a:ext cx="791400" cy="874500"/>
          </a:xfrm>
          <a:prstGeom prst="rect">
            <a:avLst/>
          </a:prstGeom>
        </p:spPr>
        <p:txBody>
          <a:bodyPr anchorCtr="0" anchor="t" bIns="103025" lIns="103025" spcFirstLastPara="1" rIns="103025" wrap="square" tIns="103025">
            <a:noAutofit/>
          </a:bodyPr>
          <a:lstStyle/>
          <a:p>
            <a:pPr indent="0" lvl="0" marL="0" rtl="0" algn="l">
              <a:spcBef>
                <a:spcPts val="0"/>
              </a:spcBef>
              <a:spcAft>
                <a:spcPts val="0"/>
              </a:spcAft>
              <a:buNone/>
            </a:pPr>
            <a:r>
              <a:rPr lang="en" sz="1077"/>
              <a:t>GPU</a:t>
            </a:r>
            <a:endParaRPr sz="1077"/>
          </a:p>
        </p:txBody>
      </p:sp>
      <p:sp>
        <p:nvSpPr>
          <p:cNvPr id="686" name="Google Shape;686;p61"/>
          <p:cNvSpPr txBox="1"/>
          <p:nvPr>
            <p:ph idx="4294967295" type="subTitle"/>
          </p:nvPr>
        </p:nvSpPr>
        <p:spPr>
          <a:xfrm>
            <a:off x="5643900" y="1564350"/>
            <a:ext cx="3018000" cy="662100"/>
          </a:xfrm>
          <a:prstGeom prst="rect">
            <a:avLst/>
          </a:prstGeom>
        </p:spPr>
        <p:txBody>
          <a:bodyPr anchorCtr="0" anchor="t" bIns="103025" lIns="103025" spcFirstLastPara="1" rIns="103025" wrap="square" tIns="103025">
            <a:noAutofit/>
          </a:bodyPr>
          <a:lstStyle/>
          <a:p>
            <a:pPr indent="0" lvl="0" marL="0" rtl="0" algn="l">
              <a:spcBef>
                <a:spcPts val="0"/>
              </a:spcBef>
              <a:spcAft>
                <a:spcPts val="0"/>
              </a:spcAft>
              <a:buNone/>
            </a:pPr>
            <a:r>
              <a:rPr lang="en" sz="877"/>
              <a:t>NVIDIA RTX 3070Ti Overclock</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8.6 Compute Capability(Advanced Ray Tracing Support)</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6144 Cuda Cores</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48 Ray Tracing Cores</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8196 MB</a:t>
            </a:r>
            <a:r>
              <a:rPr lang="en" sz="877"/>
              <a:t> GDDR6 Memories</a:t>
            </a:r>
            <a:endParaRPr sz="877"/>
          </a:p>
        </p:txBody>
      </p:sp>
      <p:sp>
        <p:nvSpPr>
          <p:cNvPr id="687" name="Google Shape;687;p61"/>
          <p:cNvSpPr/>
          <p:nvPr/>
        </p:nvSpPr>
        <p:spPr>
          <a:xfrm>
            <a:off x="1203746" y="3267475"/>
            <a:ext cx="3321300" cy="1448400"/>
          </a:xfrm>
          <a:prstGeom prst="snip1Rect">
            <a:avLst>
              <a:gd fmla="val 18586" name="adj"/>
            </a:avLst>
          </a:prstGeom>
          <a:solidFill>
            <a:schemeClr val="accent5"/>
          </a:solidFill>
          <a:ln>
            <a:noFill/>
          </a:ln>
        </p:spPr>
        <p:txBody>
          <a:bodyPr anchorCtr="0" anchor="ctr" bIns="103025" lIns="103025" spcFirstLastPara="1" rIns="103025" wrap="square" tIns="103025">
            <a:noAutofit/>
          </a:bodyPr>
          <a:lstStyle/>
          <a:p>
            <a:pPr indent="0" lvl="0" marL="0" rtl="0" algn="ctr">
              <a:spcBef>
                <a:spcPts val="0"/>
              </a:spcBef>
              <a:spcAft>
                <a:spcPts val="0"/>
              </a:spcAft>
              <a:buNone/>
            </a:pPr>
            <a:r>
              <a:t/>
            </a:r>
            <a:endParaRPr sz="1577">
              <a:solidFill>
                <a:schemeClr val="lt1"/>
              </a:solidFill>
              <a:latin typeface="Red Hat Display"/>
              <a:ea typeface="Red Hat Display"/>
              <a:cs typeface="Red Hat Display"/>
              <a:sym typeface="Red Hat Display"/>
            </a:endParaRPr>
          </a:p>
        </p:txBody>
      </p:sp>
      <p:sp>
        <p:nvSpPr>
          <p:cNvPr id="688" name="Google Shape;688;p61"/>
          <p:cNvSpPr/>
          <p:nvPr/>
        </p:nvSpPr>
        <p:spPr>
          <a:xfrm>
            <a:off x="401550" y="3275081"/>
            <a:ext cx="802200" cy="1433400"/>
          </a:xfrm>
          <a:prstGeom prst="snip2DiagRect">
            <a:avLst>
              <a:gd fmla="val 0" name="adj1"/>
              <a:gd fmla="val 40297" name="adj2"/>
            </a:avLst>
          </a:prstGeom>
          <a:solidFill>
            <a:schemeClr val="dk1"/>
          </a:solidFill>
          <a:ln cap="flat" cmpd="sng" w="21475">
            <a:solidFill>
              <a:schemeClr val="accent5"/>
            </a:solidFill>
            <a:prstDash val="solid"/>
            <a:round/>
            <a:headEnd len="sm" w="sm" type="none"/>
            <a:tailEnd len="sm" w="sm" type="none"/>
          </a:ln>
        </p:spPr>
        <p:txBody>
          <a:bodyPr anchorCtr="0" anchor="ctr" bIns="103025" lIns="103025" spcFirstLastPara="1" rIns="103025" wrap="square" tIns="103025">
            <a:noAutofit/>
          </a:bodyPr>
          <a:lstStyle/>
          <a:p>
            <a:pPr indent="0" lvl="0" marL="0" rtl="0" algn="ctr">
              <a:spcBef>
                <a:spcPts val="0"/>
              </a:spcBef>
              <a:spcAft>
                <a:spcPts val="0"/>
              </a:spcAft>
              <a:buNone/>
            </a:pPr>
            <a:r>
              <a:t/>
            </a:r>
            <a:endParaRPr sz="1577">
              <a:solidFill>
                <a:schemeClr val="dk1"/>
              </a:solidFill>
              <a:latin typeface="Red Hat Display"/>
              <a:ea typeface="Red Hat Display"/>
              <a:cs typeface="Red Hat Display"/>
              <a:sym typeface="Red Hat Display"/>
            </a:endParaRPr>
          </a:p>
        </p:txBody>
      </p:sp>
      <p:sp>
        <p:nvSpPr>
          <p:cNvPr id="689" name="Google Shape;689;p61"/>
          <p:cNvSpPr txBox="1"/>
          <p:nvPr>
            <p:ph idx="4294967295" type="subTitle"/>
          </p:nvPr>
        </p:nvSpPr>
        <p:spPr>
          <a:xfrm>
            <a:off x="406959" y="3554481"/>
            <a:ext cx="791400" cy="874500"/>
          </a:xfrm>
          <a:prstGeom prst="rect">
            <a:avLst/>
          </a:prstGeom>
        </p:spPr>
        <p:txBody>
          <a:bodyPr anchorCtr="0" anchor="t" bIns="103025" lIns="103025" spcFirstLastPara="1" rIns="103025" wrap="square" tIns="103025">
            <a:noAutofit/>
          </a:bodyPr>
          <a:lstStyle/>
          <a:p>
            <a:pPr indent="0" lvl="0" marL="0" rtl="0" algn="l">
              <a:spcBef>
                <a:spcPts val="0"/>
              </a:spcBef>
              <a:spcAft>
                <a:spcPts val="0"/>
              </a:spcAft>
              <a:buNone/>
            </a:pPr>
            <a:r>
              <a:rPr lang="en" sz="1077"/>
              <a:t>Compiler</a:t>
            </a:r>
            <a:endParaRPr sz="777"/>
          </a:p>
        </p:txBody>
      </p:sp>
      <p:sp>
        <p:nvSpPr>
          <p:cNvPr id="690" name="Google Shape;690;p61"/>
          <p:cNvSpPr txBox="1"/>
          <p:nvPr>
            <p:ph idx="4294967295" type="subTitle"/>
          </p:nvPr>
        </p:nvSpPr>
        <p:spPr>
          <a:xfrm>
            <a:off x="1431254" y="3540142"/>
            <a:ext cx="2792100" cy="662100"/>
          </a:xfrm>
          <a:prstGeom prst="rect">
            <a:avLst/>
          </a:prstGeom>
        </p:spPr>
        <p:txBody>
          <a:bodyPr anchorCtr="0" anchor="t" bIns="103025" lIns="103025" spcFirstLastPara="1" rIns="103025" wrap="square" tIns="103025">
            <a:noAutofit/>
          </a:bodyPr>
          <a:lstStyle/>
          <a:p>
            <a:pPr indent="0" lvl="0" marL="0" rtl="0" algn="l">
              <a:spcBef>
                <a:spcPts val="0"/>
              </a:spcBef>
              <a:spcAft>
                <a:spcPts val="0"/>
              </a:spcAft>
              <a:buNone/>
            </a:pPr>
            <a:r>
              <a:rPr lang="en" sz="877"/>
              <a:t>GNU g++ 15.1.0</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NVCC Cuda-kit 13.0</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ffmpeg</a:t>
            </a:r>
            <a:endParaRPr sz="877"/>
          </a:p>
        </p:txBody>
      </p:sp>
      <p:sp>
        <p:nvSpPr>
          <p:cNvPr id="691" name="Google Shape;691;p61"/>
          <p:cNvSpPr/>
          <p:nvPr/>
        </p:nvSpPr>
        <p:spPr>
          <a:xfrm>
            <a:off x="5449333" y="3267475"/>
            <a:ext cx="3321300" cy="1448400"/>
          </a:xfrm>
          <a:prstGeom prst="snip1Rect">
            <a:avLst>
              <a:gd fmla="val 18586" name="adj"/>
            </a:avLst>
          </a:prstGeom>
          <a:solidFill>
            <a:schemeClr val="accent5"/>
          </a:solidFill>
          <a:ln>
            <a:noFill/>
          </a:ln>
        </p:spPr>
        <p:txBody>
          <a:bodyPr anchorCtr="0" anchor="ctr" bIns="103025" lIns="103025" spcFirstLastPara="1" rIns="103025" wrap="square" tIns="103025">
            <a:noAutofit/>
          </a:bodyPr>
          <a:lstStyle/>
          <a:p>
            <a:pPr indent="0" lvl="0" marL="0" rtl="0" algn="ctr">
              <a:spcBef>
                <a:spcPts val="0"/>
              </a:spcBef>
              <a:spcAft>
                <a:spcPts val="0"/>
              </a:spcAft>
              <a:buNone/>
            </a:pPr>
            <a:r>
              <a:t/>
            </a:r>
            <a:endParaRPr sz="1577">
              <a:solidFill>
                <a:schemeClr val="lt1"/>
              </a:solidFill>
              <a:latin typeface="Red Hat Display"/>
              <a:ea typeface="Red Hat Display"/>
              <a:cs typeface="Red Hat Display"/>
              <a:sym typeface="Red Hat Display"/>
            </a:endParaRPr>
          </a:p>
        </p:txBody>
      </p:sp>
      <p:sp>
        <p:nvSpPr>
          <p:cNvPr id="692" name="Google Shape;692;p61"/>
          <p:cNvSpPr/>
          <p:nvPr/>
        </p:nvSpPr>
        <p:spPr>
          <a:xfrm>
            <a:off x="4647175" y="3275081"/>
            <a:ext cx="802200" cy="1433400"/>
          </a:xfrm>
          <a:prstGeom prst="snip2DiagRect">
            <a:avLst>
              <a:gd fmla="val 0" name="adj1"/>
              <a:gd fmla="val 40297" name="adj2"/>
            </a:avLst>
          </a:prstGeom>
          <a:solidFill>
            <a:schemeClr val="dk1"/>
          </a:solidFill>
          <a:ln cap="flat" cmpd="sng" w="21450">
            <a:solidFill>
              <a:schemeClr val="accent5"/>
            </a:solidFill>
            <a:prstDash val="solid"/>
            <a:round/>
            <a:headEnd len="sm" w="sm" type="none"/>
            <a:tailEnd len="sm" w="sm" type="none"/>
          </a:ln>
        </p:spPr>
        <p:txBody>
          <a:bodyPr anchorCtr="0" anchor="ctr" bIns="103025" lIns="103025" spcFirstLastPara="1" rIns="103025" wrap="square" tIns="103025">
            <a:noAutofit/>
          </a:bodyPr>
          <a:lstStyle/>
          <a:p>
            <a:pPr indent="0" lvl="0" marL="0" rtl="0" algn="ctr">
              <a:spcBef>
                <a:spcPts val="0"/>
              </a:spcBef>
              <a:spcAft>
                <a:spcPts val="0"/>
              </a:spcAft>
              <a:buNone/>
            </a:pPr>
            <a:r>
              <a:t/>
            </a:r>
            <a:endParaRPr sz="1577">
              <a:solidFill>
                <a:schemeClr val="dk1"/>
              </a:solidFill>
              <a:latin typeface="Red Hat Display"/>
              <a:ea typeface="Red Hat Display"/>
              <a:cs typeface="Red Hat Display"/>
              <a:sym typeface="Red Hat Display"/>
            </a:endParaRPr>
          </a:p>
        </p:txBody>
      </p:sp>
      <p:sp>
        <p:nvSpPr>
          <p:cNvPr id="693" name="Google Shape;693;p61"/>
          <p:cNvSpPr txBox="1"/>
          <p:nvPr>
            <p:ph idx="4294967295" type="subTitle"/>
          </p:nvPr>
        </p:nvSpPr>
        <p:spPr>
          <a:xfrm>
            <a:off x="4652584" y="3554467"/>
            <a:ext cx="791400" cy="874500"/>
          </a:xfrm>
          <a:prstGeom prst="rect">
            <a:avLst/>
          </a:prstGeom>
        </p:spPr>
        <p:txBody>
          <a:bodyPr anchorCtr="0" anchor="t" bIns="103025" lIns="103025" spcFirstLastPara="1" rIns="103025" wrap="square" tIns="103025">
            <a:noAutofit/>
          </a:bodyPr>
          <a:lstStyle/>
          <a:p>
            <a:pPr indent="0" lvl="0" marL="0" rtl="0" algn="l">
              <a:spcBef>
                <a:spcPts val="0"/>
              </a:spcBef>
              <a:spcAft>
                <a:spcPts val="0"/>
              </a:spcAft>
              <a:buNone/>
            </a:pPr>
            <a:r>
              <a:rPr lang="en" sz="1077"/>
              <a:t>Analysis</a:t>
            </a:r>
            <a:endParaRPr sz="1077"/>
          </a:p>
          <a:p>
            <a:pPr indent="0" lvl="0" marL="0" rtl="0" algn="l">
              <a:spcBef>
                <a:spcPts val="0"/>
              </a:spcBef>
              <a:spcAft>
                <a:spcPts val="0"/>
              </a:spcAft>
              <a:buNone/>
            </a:pPr>
            <a:r>
              <a:rPr lang="en" sz="1077"/>
              <a:t>Tool</a:t>
            </a:r>
            <a:endParaRPr sz="1077"/>
          </a:p>
        </p:txBody>
      </p:sp>
      <p:sp>
        <p:nvSpPr>
          <p:cNvPr id="694" name="Google Shape;694;p61"/>
          <p:cNvSpPr txBox="1"/>
          <p:nvPr>
            <p:ph idx="4294967295" type="subTitle"/>
          </p:nvPr>
        </p:nvSpPr>
        <p:spPr>
          <a:xfrm>
            <a:off x="5643900" y="3400182"/>
            <a:ext cx="2791800" cy="662100"/>
          </a:xfrm>
          <a:prstGeom prst="rect">
            <a:avLst/>
          </a:prstGeom>
        </p:spPr>
        <p:txBody>
          <a:bodyPr anchorCtr="0" anchor="t" bIns="103025" lIns="103025" spcFirstLastPara="1" rIns="103025" wrap="square" tIns="103025">
            <a:noAutofit/>
          </a:bodyPr>
          <a:lstStyle/>
          <a:p>
            <a:pPr indent="0" lvl="0" marL="0" rtl="0" algn="l">
              <a:spcBef>
                <a:spcPts val="0"/>
              </a:spcBef>
              <a:spcAft>
                <a:spcPts val="0"/>
              </a:spcAft>
              <a:buNone/>
            </a:pPr>
            <a:r>
              <a:rPr lang="en" sz="877"/>
              <a:t>Nsight Compute 2025.4.0</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Nsight System 2025.3.2</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Google Gemini</a:t>
            </a:r>
            <a:endParaRPr sz="877"/>
          </a:p>
          <a:p>
            <a:pPr indent="0" lvl="0" marL="0" rtl="0" algn="l">
              <a:spcBef>
                <a:spcPts val="0"/>
              </a:spcBef>
              <a:spcAft>
                <a:spcPts val="0"/>
              </a:spcAft>
              <a:buNone/>
            </a:pPr>
            <a:r>
              <a:t/>
            </a:r>
            <a:endParaRPr sz="877"/>
          </a:p>
          <a:p>
            <a:pPr indent="0" lvl="0" marL="0" rtl="0" algn="l">
              <a:spcBef>
                <a:spcPts val="0"/>
              </a:spcBef>
              <a:spcAft>
                <a:spcPts val="0"/>
              </a:spcAft>
              <a:buNone/>
            </a:pPr>
            <a:r>
              <a:rPr lang="en" sz="877"/>
              <a:t>Matlab</a:t>
            </a:r>
            <a:endParaRPr sz="877"/>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2"/>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We tried to identify the bottleneck and what is causing the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Latency in our codes. We focus on memories usages and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Divergence problems. </a:t>
            </a:r>
            <a:r>
              <a:rPr lang="en"/>
              <a:t>Partition</a:t>
            </a:r>
            <a:r>
              <a:rPr lang="en"/>
              <a:t> workload between CPU and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GPU is crucial</a:t>
            </a:r>
            <a:endParaRPr/>
          </a:p>
        </p:txBody>
      </p:sp>
      <p:sp>
        <p:nvSpPr>
          <p:cNvPr id="700" name="Google Shape;700;p62"/>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Optimization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3"/>
          <p:cNvSpPr/>
          <p:nvPr/>
        </p:nvSpPr>
        <p:spPr>
          <a:xfrm>
            <a:off x="4590950" y="24819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706" name="Google Shape;706;p63"/>
          <p:cNvSpPr/>
          <p:nvPr/>
        </p:nvSpPr>
        <p:spPr>
          <a:xfrm>
            <a:off x="4590950" y="38127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707" name="Google Shape;707;p63"/>
          <p:cNvSpPr/>
          <p:nvPr/>
        </p:nvSpPr>
        <p:spPr>
          <a:xfrm>
            <a:off x="4590950" y="11511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708" name="Google Shape;708;p63"/>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Host-Device</a:t>
            </a:r>
            <a:endParaRPr/>
          </a:p>
        </p:txBody>
      </p:sp>
      <p:sp>
        <p:nvSpPr>
          <p:cNvPr id="709" name="Google Shape;709;p63"/>
          <p:cNvSpPr txBox="1"/>
          <p:nvPr>
            <p:ph idx="2" type="subTitle"/>
          </p:nvPr>
        </p:nvSpPr>
        <p:spPr>
          <a:xfrm>
            <a:off x="4590850" y="381270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Algorithms</a:t>
            </a:r>
            <a:endParaRPr/>
          </a:p>
        </p:txBody>
      </p:sp>
      <p:sp>
        <p:nvSpPr>
          <p:cNvPr id="710" name="Google Shape;710;p63"/>
          <p:cNvSpPr txBox="1"/>
          <p:nvPr>
            <p:ph idx="3" type="subTitle"/>
          </p:nvPr>
        </p:nvSpPr>
        <p:spPr>
          <a:xfrm>
            <a:off x="4590850" y="115110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Memory Usages</a:t>
            </a:r>
            <a:endParaRPr/>
          </a:p>
        </p:txBody>
      </p:sp>
      <p:sp>
        <p:nvSpPr>
          <p:cNvPr id="711" name="Google Shape;711;p63"/>
          <p:cNvSpPr txBox="1"/>
          <p:nvPr>
            <p:ph type="title"/>
          </p:nvPr>
        </p:nvSpPr>
        <p:spPr>
          <a:xfrm>
            <a:off x="305125" y="622750"/>
            <a:ext cx="3172500" cy="29553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For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Velocity and Position are</a:t>
            </a:r>
            <a:endParaRPr/>
          </a:p>
          <a:p>
            <a:pPr indent="0" lvl="0" marL="0" rtl="0" algn="l">
              <a:spcBef>
                <a:spcPts val="0"/>
              </a:spcBef>
              <a:spcAft>
                <a:spcPts val="0"/>
              </a:spcAft>
              <a:buNone/>
            </a:pPr>
            <a:r>
              <a:rPr lang="en"/>
              <a:t>Co-dependent!</a:t>
            </a:r>
            <a:endParaRPr/>
          </a:p>
          <a:p>
            <a:pPr indent="0" lvl="0" marL="0" rtl="0" algn="l">
              <a:spcBef>
                <a:spcPts val="0"/>
              </a:spcBef>
              <a:spcAft>
                <a:spcPts val="0"/>
              </a:spcAft>
              <a:buNone/>
            </a:pPr>
            <a:r>
              <a:rPr lang="en"/>
              <a:t>Cannot compute </a:t>
            </a:r>
            <a:r>
              <a:rPr lang="en"/>
              <a:t>velocity</a:t>
            </a:r>
            <a:r>
              <a:rPr lang="en"/>
              <a:t> without computing position first.After stepping forward in time, velocity needs to be calculated using the new position!</a:t>
            </a:r>
            <a:endParaRPr/>
          </a:p>
        </p:txBody>
      </p:sp>
      <p:sp>
        <p:nvSpPr>
          <p:cNvPr id="712" name="Google Shape;712;p63"/>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Threads are always accessing the global memories. Cache hit rate is high but still not solving the locality problem. Need to use registers more to speed up the program</a:t>
            </a:r>
            <a:endParaRPr/>
          </a:p>
        </p:txBody>
      </p:sp>
      <p:sp>
        <p:nvSpPr>
          <p:cNvPr id="713" name="Google Shape;713;p63"/>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Constantly copying memories from host-device, back and forth. It wastes huge amounts of time, as threads will be idle waiting for the data. Need to balance the workload</a:t>
            </a:r>
            <a:endParaRPr/>
          </a:p>
        </p:txBody>
      </p:sp>
      <p:sp>
        <p:nvSpPr>
          <p:cNvPr id="714" name="Google Shape;714;p63"/>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Threads throttling issue occurs frequently in the program execution process. If-else statement costs a lot of time for threads to wait while other threads are executing.Sometimes loop is inevitable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cxnSp>
        <p:nvCxnSpPr>
          <p:cNvPr id="719" name="Google Shape;719;p64"/>
          <p:cNvCxnSpPr/>
          <p:nvPr/>
        </p:nvCxnSpPr>
        <p:spPr>
          <a:xfrm>
            <a:off x="226425" y="1083325"/>
            <a:ext cx="8589300" cy="0"/>
          </a:xfrm>
          <a:prstGeom prst="straightConnector1">
            <a:avLst/>
          </a:prstGeom>
          <a:noFill/>
          <a:ln cap="flat" cmpd="sng" w="9525">
            <a:solidFill>
              <a:schemeClr val="accent6"/>
            </a:solidFill>
            <a:prstDash val="solid"/>
            <a:round/>
            <a:headEnd len="med" w="med" type="none"/>
            <a:tailEnd len="med" w="med" type="triangle"/>
          </a:ln>
        </p:spPr>
      </p:cxnSp>
      <p:sp>
        <p:nvSpPr>
          <p:cNvPr id="720" name="Google Shape;720;p64"/>
          <p:cNvSpPr txBox="1"/>
          <p:nvPr/>
        </p:nvSpPr>
        <p:spPr>
          <a:xfrm>
            <a:off x="123725" y="1776864"/>
            <a:ext cx="1508700" cy="2878200"/>
          </a:xfrm>
          <a:prstGeom prst="rect">
            <a:avLst/>
          </a:prstGeom>
          <a:noFill/>
          <a:ln>
            <a:noFill/>
          </a:ln>
        </p:spPr>
        <p:txBody>
          <a:bodyPr anchorCtr="0" anchor="t" bIns="91425" lIns="0" spcFirstLastPara="1" rIns="91425" wrap="square" tIns="91425">
            <a:spAutoFit/>
          </a:bodyPr>
          <a:lstStyle/>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Improve Data Structure</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 std::vector&lt;Body&gt; Bodies</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To</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Std::vector&lt;std::vector&lt;Body&gt; Bodies&gt; Bodies</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Store the entire loop history data inside one vector, so the memory access will be sequential</a:t>
            </a:r>
            <a:endParaRPr b="1" sz="1000">
              <a:solidFill>
                <a:schemeClr val="lt1"/>
              </a:solidFill>
              <a:latin typeface="Red Hat Display"/>
              <a:ea typeface="Red Hat Display"/>
              <a:cs typeface="Red Hat Display"/>
              <a:sym typeface="Red Hat Display"/>
            </a:endParaRPr>
          </a:p>
        </p:txBody>
      </p:sp>
      <p:sp>
        <p:nvSpPr>
          <p:cNvPr id="721" name="Google Shape;721;p64"/>
          <p:cNvSpPr txBox="1"/>
          <p:nvPr/>
        </p:nvSpPr>
        <p:spPr>
          <a:xfrm>
            <a:off x="127425" y="1393714"/>
            <a:ext cx="15087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Data Structure</a:t>
            </a:r>
            <a:endParaRPr sz="1000">
              <a:solidFill>
                <a:schemeClr val="dk2"/>
              </a:solidFill>
              <a:latin typeface="Red Hat Display SemiBold"/>
              <a:ea typeface="Red Hat Display SemiBold"/>
              <a:cs typeface="Red Hat Display SemiBold"/>
              <a:sym typeface="Red Hat Display SemiBold"/>
            </a:endParaRPr>
          </a:p>
        </p:txBody>
      </p:sp>
      <p:sp>
        <p:nvSpPr>
          <p:cNvPr id="722" name="Google Shape;722;p64"/>
          <p:cNvSpPr txBox="1"/>
          <p:nvPr/>
        </p:nvSpPr>
        <p:spPr>
          <a:xfrm>
            <a:off x="1921024" y="1393714"/>
            <a:ext cx="15087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Balance Workload</a:t>
            </a:r>
            <a:endParaRPr sz="1000">
              <a:solidFill>
                <a:schemeClr val="dk2"/>
              </a:solidFill>
              <a:latin typeface="Red Hat Display SemiBold"/>
              <a:ea typeface="Red Hat Display SemiBold"/>
              <a:cs typeface="Red Hat Display SemiBold"/>
              <a:sym typeface="Red Hat Display SemiBold"/>
            </a:endParaRPr>
          </a:p>
        </p:txBody>
      </p:sp>
      <p:sp>
        <p:nvSpPr>
          <p:cNvPr id="723" name="Google Shape;723;p64"/>
          <p:cNvSpPr txBox="1"/>
          <p:nvPr/>
        </p:nvSpPr>
        <p:spPr>
          <a:xfrm>
            <a:off x="1918249" y="1776864"/>
            <a:ext cx="1508700" cy="1493100"/>
          </a:xfrm>
          <a:prstGeom prst="rect">
            <a:avLst/>
          </a:prstGeom>
          <a:noFill/>
          <a:ln>
            <a:noFill/>
          </a:ln>
        </p:spPr>
        <p:txBody>
          <a:bodyPr anchorCtr="0" anchor="t" bIns="91425" lIns="0" spcFirstLastPara="1" rIns="91425" wrap="square" tIns="91425">
            <a:spAutoFit/>
          </a:bodyPr>
          <a:lstStyle/>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All calculations and ray tracing to be done on GPU</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CPU is only used to write out data to txt file</a:t>
            </a:r>
            <a:endParaRPr b="1" sz="1000">
              <a:solidFill>
                <a:schemeClr val="lt1"/>
              </a:solidFill>
              <a:latin typeface="Red Hat Display"/>
              <a:ea typeface="Red Hat Display"/>
              <a:cs typeface="Red Hat Display"/>
              <a:sym typeface="Red Hat Display"/>
            </a:endParaRPr>
          </a:p>
        </p:txBody>
      </p:sp>
      <p:sp>
        <p:nvSpPr>
          <p:cNvPr id="724" name="Google Shape;724;p64"/>
          <p:cNvSpPr txBox="1"/>
          <p:nvPr/>
        </p:nvSpPr>
        <p:spPr>
          <a:xfrm>
            <a:off x="3714624" y="1393714"/>
            <a:ext cx="15087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Grid and Block Size</a:t>
            </a:r>
            <a:endParaRPr sz="1000">
              <a:solidFill>
                <a:schemeClr val="dk2"/>
              </a:solidFill>
              <a:latin typeface="Red Hat Display SemiBold"/>
              <a:ea typeface="Red Hat Display SemiBold"/>
              <a:cs typeface="Red Hat Display SemiBold"/>
              <a:sym typeface="Red Hat Display SemiBold"/>
            </a:endParaRPr>
          </a:p>
        </p:txBody>
      </p:sp>
      <p:sp>
        <p:nvSpPr>
          <p:cNvPr id="725" name="Google Shape;725;p64"/>
          <p:cNvSpPr txBox="1"/>
          <p:nvPr/>
        </p:nvSpPr>
        <p:spPr>
          <a:xfrm>
            <a:off x="3712774" y="1776864"/>
            <a:ext cx="1508700" cy="1954800"/>
          </a:xfrm>
          <a:prstGeom prst="rect">
            <a:avLst/>
          </a:prstGeom>
          <a:noFill/>
          <a:ln>
            <a:noFill/>
          </a:ln>
        </p:spPr>
        <p:txBody>
          <a:bodyPr anchorCtr="0" anchor="t" bIns="91425" lIns="0" spcFirstLastPara="1" rIns="91425" wrap="square" tIns="91425">
            <a:spAutoFit/>
          </a:bodyPr>
          <a:lstStyle/>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For each GPU architecture, there’s an optimized block size.</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For 3070Ti Ampere architecture, it is recommended to use 256 threads per block.</a:t>
            </a:r>
            <a:endParaRPr b="1" sz="1000">
              <a:solidFill>
                <a:schemeClr val="lt1"/>
              </a:solidFill>
              <a:latin typeface="Red Hat Display"/>
              <a:ea typeface="Red Hat Display"/>
              <a:cs typeface="Red Hat Display"/>
              <a:sym typeface="Red Hat Display"/>
            </a:endParaRPr>
          </a:p>
        </p:txBody>
      </p:sp>
      <p:sp>
        <p:nvSpPr>
          <p:cNvPr id="726" name="Google Shape;726;p64"/>
          <p:cNvSpPr txBox="1"/>
          <p:nvPr/>
        </p:nvSpPr>
        <p:spPr>
          <a:xfrm>
            <a:off x="5508223" y="1393714"/>
            <a:ext cx="15087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Algorithms</a:t>
            </a:r>
            <a:endParaRPr sz="1000">
              <a:solidFill>
                <a:schemeClr val="dk2"/>
              </a:solidFill>
              <a:latin typeface="Red Hat Display SemiBold"/>
              <a:ea typeface="Red Hat Display SemiBold"/>
              <a:cs typeface="Red Hat Display SemiBold"/>
              <a:sym typeface="Red Hat Display SemiBold"/>
            </a:endParaRPr>
          </a:p>
        </p:txBody>
      </p:sp>
      <p:sp>
        <p:nvSpPr>
          <p:cNvPr id="727" name="Google Shape;727;p64"/>
          <p:cNvSpPr txBox="1"/>
          <p:nvPr/>
        </p:nvSpPr>
        <p:spPr>
          <a:xfrm>
            <a:off x="5507298" y="1776864"/>
            <a:ext cx="1508700" cy="3109200"/>
          </a:xfrm>
          <a:prstGeom prst="rect">
            <a:avLst/>
          </a:prstGeom>
          <a:noFill/>
          <a:ln>
            <a:noFill/>
          </a:ln>
        </p:spPr>
        <p:txBody>
          <a:bodyPr anchorCtr="0" anchor="t" bIns="91425" lIns="0" spcFirstLastPara="1" rIns="91425" wrap="square" tIns="91425">
            <a:spAutoFit/>
          </a:bodyPr>
          <a:lstStyle/>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Minimize if-else </a:t>
            </a:r>
            <a:r>
              <a:rPr b="1" lang="en" sz="1000">
                <a:solidFill>
                  <a:schemeClr val="lt1"/>
                </a:solidFill>
                <a:latin typeface="Red Hat Display"/>
                <a:ea typeface="Red Hat Display"/>
                <a:cs typeface="Red Hat Display"/>
                <a:sym typeface="Red Hat Display"/>
              </a:rPr>
              <a:t>statement</a:t>
            </a:r>
            <a:r>
              <a:rPr b="1" lang="en" sz="1000">
                <a:solidFill>
                  <a:schemeClr val="lt1"/>
                </a:solidFill>
                <a:latin typeface="Red Hat Display"/>
                <a:ea typeface="Red Hat Display"/>
                <a:cs typeface="Red Hat Display"/>
                <a:sym typeface="Red Hat Display"/>
              </a:rPr>
              <a:t>  in GPU kernel to prevent threads from stalling</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t/>
            </a:r>
            <a:endParaRPr b="1" sz="10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Use float instead of double, since Ampere architecture for 3070Ti has more FP32 cores than FP64 cores, meaning more single-precision calculation per cycle</a:t>
            </a:r>
            <a:endParaRPr b="1" sz="1000">
              <a:solidFill>
                <a:schemeClr val="lt1"/>
              </a:solidFill>
              <a:latin typeface="Red Hat Display"/>
              <a:ea typeface="Red Hat Display"/>
              <a:cs typeface="Red Hat Display"/>
              <a:sym typeface="Red Hat Display"/>
            </a:endParaRPr>
          </a:p>
        </p:txBody>
      </p:sp>
      <p:sp>
        <p:nvSpPr>
          <p:cNvPr id="728" name="Google Shape;728;p64"/>
          <p:cNvSpPr txBox="1"/>
          <p:nvPr/>
        </p:nvSpPr>
        <p:spPr>
          <a:xfrm>
            <a:off x="7301823" y="1776864"/>
            <a:ext cx="1508700" cy="9543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000">
                <a:solidFill>
                  <a:schemeClr val="lt1"/>
                </a:solidFill>
                <a:latin typeface="Red Hat Display"/>
                <a:ea typeface="Red Hat Display"/>
                <a:cs typeface="Red Hat Display"/>
                <a:sym typeface="Red Hat Display"/>
              </a:rPr>
              <a:t>Maximize memory usage on GPU so that  memory transfer time between CPU and GPU is minimized</a:t>
            </a:r>
            <a:endParaRPr b="1" sz="800">
              <a:solidFill>
                <a:schemeClr val="lt1"/>
              </a:solidFill>
              <a:latin typeface="Red Hat Display"/>
              <a:ea typeface="Red Hat Display"/>
              <a:cs typeface="Red Hat Display"/>
              <a:sym typeface="Red Hat Display"/>
            </a:endParaRPr>
          </a:p>
        </p:txBody>
      </p:sp>
      <p:sp>
        <p:nvSpPr>
          <p:cNvPr id="729" name="Google Shape;729;p64"/>
          <p:cNvSpPr txBox="1"/>
          <p:nvPr/>
        </p:nvSpPr>
        <p:spPr>
          <a:xfrm>
            <a:off x="7301823" y="1393714"/>
            <a:ext cx="15087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Memory Usages</a:t>
            </a:r>
            <a:endParaRPr sz="1000">
              <a:solidFill>
                <a:schemeClr val="dk2"/>
              </a:solidFill>
              <a:latin typeface="Red Hat Display SemiBold"/>
              <a:ea typeface="Red Hat Display SemiBold"/>
              <a:cs typeface="Red Hat Display SemiBold"/>
              <a:sym typeface="Red Hat Display SemiBold"/>
            </a:endParaRPr>
          </a:p>
        </p:txBody>
      </p:sp>
      <p:sp>
        <p:nvSpPr>
          <p:cNvPr id="730" name="Google Shape;730;p64"/>
          <p:cNvSpPr/>
          <p:nvPr/>
        </p:nvSpPr>
        <p:spPr>
          <a:xfrm>
            <a:off x="123723" y="9450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31" name="Google Shape;731;p64"/>
          <p:cNvSpPr/>
          <p:nvPr/>
        </p:nvSpPr>
        <p:spPr>
          <a:xfrm>
            <a:off x="1918248" y="9450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32" name="Google Shape;732;p64"/>
          <p:cNvSpPr/>
          <p:nvPr/>
        </p:nvSpPr>
        <p:spPr>
          <a:xfrm>
            <a:off x="3712773" y="9450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33" name="Google Shape;733;p64"/>
          <p:cNvSpPr/>
          <p:nvPr/>
        </p:nvSpPr>
        <p:spPr>
          <a:xfrm>
            <a:off x="5507298" y="9450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34" name="Google Shape;734;p64"/>
          <p:cNvSpPr/>
          <p:nvPr/>
        </p:nvSpPr>
        <p:spPr>
          <a:xfrm>
            <a:off x="7301823" y="9450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35" name="Google Shape;735;p64"/>
          <p:cNvSpPr txBox="1"/>
          <p:nvPr>
            <p:ph type="title"/>
          </p:nvPr>
        </p:nvSpPr>
        <p:spPr>
          <a:xfrm>
            <a:off x="162850" y="226342"/>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Optimization Process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65"/>
          <p:cNvSpPr txBox="1"/>
          <p:nvPr>
            <p:ph type="title"/>
          </p:nvPr>
        </p:nvSpPr>
        <p:spPr>
          <a:xfrm>
            <a:off x="107100" y="32692"/>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Optimization Example: (pseudo codes)</a:t>
            </a:r>
            <a:endParaRPr/>
          </a:p>
        </p:txBody>
      </p:sp>
      <p:sp>
        <p:nvSpPr>
          <p:cNvPr id="741" name="Google Shape;741;p65"/>
          <p:cNvSpPr txBox="1"/>
          <p:nvPr/>
        </p:nvSpPr>
        <p:spPr>
          <a:xfrm>
            <a:off x="440500" y="2448600"/>
            <a:ext cx="3000000" cy="1099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650">
                <a:solidFill>
                  <a:srgbClr val="C586C0"/>
                </a:solidFill>
                <a:highlight>
                  <a:srgbClr val="1F1F1F"/>
                </a:highlight>
                <a:latin typeface="Courier New"/>
                <a:ea typeface="Courier New"/>
                <a:cs typeface="Courier New"/>
                <a:sym typeface="Courier New"/>
              </a:rPr>
              <a:t>while</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t</a:t>
            </a:r>
            <a:r>
              <a:rPr lang="en" sz="650">
                <a:solidFill>
                  <a:srgbClr val="CCCCCC"/>
                </a:solidFill>
                <a:highlight>
                  <a:srgbClr val="1F1F1F"/>
                </a:highlight>
                <a:latin typeface="Courier New"/>
                <a:ea typeface="Courier New"/>
                <a:cs typeface="Courier New"/>
                <a:sym typeface="Courier New"/>
              </a:rPr>
              <a:t> </a:t>
            </a:r>
            <a:r>
              <a:rPr lang="en" sz="650">
                <a:solidFill>
                  <a:srgbClr val="D4D4D4"/>
                </a:solidFill>
                <a:highlight>
                  <a:srgbClr val="1F1F1F"/>
                </a:highlight>
                <a:latin typeface="Courier New"/>
                <a:ea typeface="Courier New"/>
                <a:cs typeface="Courier New"/>
                <a:sym typeface="Courier New"/>
              </a:rPr>
              <a:t>&lt; END</a:t>
            </a:r>
            <a:r>
              <a:rPr lang="en" sz="650">
                <a:solidFill>
                  <a:srgbClr val="CCCCCC"/>
                </a:solidFill>
                <a:highlight>
                  <a:srgbClr val="1F1F1F"/>
                </a:highlight>
                <a:latin typeface="Courier New"/>
                <a:ea typeface="Courier New"/>
                <a:cs typeface="Courier New"/>
                <a:sym typeface="Courier New"/>
              </a:rPr>
              <a:t>) {</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r>
              <a:rPr lang="en" sz="650">
                <a:solidFill>
                  <a:srgbClr val="DCDCAA"/>
                </a:solidFill>
                <a:highlight>
                  <a:srgbClr val="1F1F1F"/>
                </a:highlight>
                <a:latin typeface="Courier New"/>
                <a:ea typeface="Courier New"/>
                <a:cs typeface="Courier New"/>
                <a:sym typeface="Courier New"/>
              </a:rPr>
              <a:t>update_velocities</a:t>
            </a:r>
            <a:r>
              <a:rPr lang="en" sz="650">
                <a:solidFill>
                  <a:srgbClr val="D4D4D4"/>
                </a:solidFill>
                <a:highlight>
                  <a:srgbClr val="1F1F1F"/>
                </a:highlight>
                <a:latin typeface="Courier New"/>
                <a:ea typeface="Courier New"/>
                <a:cs typeface="Courier New"/>
                <a:sym typeface="Courier New"/>
              </a:rPr>
              <a:t>&lt;&lt;&lt;</a:t>
            </a:r>
            <a:r>
              <a:rPr lang="en" sz="650">
                <a:solidFill>
                  <a:srgbClr val="9CDCFE"/>
                </a:solidFill>
                <a:highlight>
                  <a:srgbClr val="1F1F1F"/>
                </a:highlight>
                <a:latin typeface="Courier New"/>
                <a:ea typeface="Courier New"/>
                <a:cs typeface="Courier New"/>
                <a:sym typeface="Courier New"/>
              </a:rPr>
              <a:t>blocks</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threads</a:t>
            </a:r>
            <a:r>
              <a:rPr lang="en" sz="650">
                <a:solidFill>
                  <a:srgbClr val="D4D4D4"/>
                </a:solidFill>
                <a:highlight>
                  <a:srgbClr val="1F1F1F"/>
                </a:highlight>
                <a:latin typeface="Courier New"/>
                <a:ea typeface="Courier New"/>
                <a:cs typeface="Courier New"/>
                <a:sym typeface="Courier New"/>
              </a:rPr>
              <a:t>&gt;&gt;&gt;</a:t>
            </a:r>
            <a:r>
              <a:rPr lang="en" sz="650">
                <a:solidFill>
                  <a:srgbClr val="CCCCCC"/>
                </a:solidFill>
                <a:highlight>
                  <a:srgbClr val="1F1F1F"/>
                </a:highlight>
                <a:latin typeface="Courier New"/>
                <a:ea typeface="Courier New"/>
                <a:cs typeface="Courier New"/>
                <a:sym typeface="Courier New"/>
              </a:rPr>
              <a:t>(</a:t>
            </a:r>
            <a:r>
              <a:rPr lang="en" sz="650">
                <a:solidFill>
                  <a:srgbClr val="9CDCFE"/>
                </a:solidFill>
                <a:highlight>
                  <a:srgbClr val="1F1F1F"/>
                </a:highlight>
                <a:latin typeface="Courier New"/>
                <a:ea typeface="Courier New"/>
                <a:cs typeface="Courier New"/>
                <a:sym typeface="Courier New"/>
              </a:rPr>
              <a:t>n</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d_m</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step_dt</a:t>
            </a:r>
            <a:r>
              <a:rPr lang="en" sz="650">
                <a:solidFill>
                  <a:srgbClr val="CCCCCC"/>
                </a:solidFill>
                <a:highlight>
                  <a:srgbClr val="1F1F1F"/>
                </a:highlight>
                <a:latin typeface="Courier New"/>
                <a:ea typeface="Courier New"/>
                <a:cs typeface="Courier New"/>
                <a:sym typeface="Courier New"/>
              </a:rPr>
              <a:t>);</a:t>
            </a:r>
            <a:endParaRPr sz="650">
              <a:solidFill>
                <a:srgbClr val="CCCCCC"/>
              </a:solidFill>
              <a:highlight>
                <a:srgbClr val="1F1F1F"/>
              </a:highlight>
              <a:latin typeface="Courier New"/>
              <a:ea typeface="Courier New"/>
              <a:cs typeface="Courier New"/>
              <a:sym typeface="Courier New"/>
            </a:endParaRPr>
          </a:p>
          <a:p>
            <a:pPr indent="457200" lvl="0" marL="0" rtl="0" algn="l">
              <a:lnSpc>
                <a:spcPct val="135714"/>
              </a:lnSpc>
              <a:spcBef>
                <a:spcPts val="0"/>
              </a:spcBef>
              <a:spcAft>
                <a:spcPts val="0"/>
              </a:spcAft>
              <a:buNone/>
            </a:pPr>
            <a:r>
              <a:rPr lang="en" sz="650">
                <a:solidFill>
                  <a:srgbClr val="DCDCAA"/>
                </a:solidFill>
                <a:highlight>
                  <a:srgbClr val="1F1F1F"/>
                </a:highlight>
                <a:latin typeface="Courier New"/>
                <a:ea typeface="Courier New"/>
                <a:cs typeface="Courier New"/>
                <a:sym typeface="Courier New"/>
              </a:rPr>
              <a:t> </a:t>
            </a:r>
            <a:r>
              <a:rPr lang="en" sz="650">
                <a:solidFill>
                  <a:srgbClr val="DCDCAA"/>
                </a:solidFill>
                <a:highlight>
                  <a:srgbClr val="1F1F1F"/>
                </a:highlight>
                <a:latin typeface="Courier New"/>
                <a:ea typeface="Courier New"/>
                <a:cs typeface="Courier New"/>
                <a:sym typeface="Courier New"/>
              </a:rPr>
              <a:t>cudaDeviceSynchronize</a:t>
            </a:r>
            <a:r>
              <a:rPr lang="en" sz="650">
                <a:solidFill>
                  <a:srgbClr val="CCCCCC"/>
                </a:solidFill>
                <a:highlight>
                  <a:srgbClr val="1F1F1F"/>
                </a:highlight>
                <a:latin typeface="Courier New"/>
                <a:ea typeface="Courier New"/>
                <a:cs typeface="Courier New"/>
                <a:sym typeface="Courier New"/>
              </a:rPr>
              <a:t>();</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r>
              <a:rPr lang="en" sz="650">
                <a:solidFill>
                  <a:srgbClr val="DCDCAA"/>
                </a:solidFill>
                <a:highlight>
                  <a:srgbClr val="1F1F1F"/>
                </a:highlight>
                <a:latin typeface="Courier New"/>
                <a:ea typeface="Courier New"/>
                <a:cs typeface="Courier New"/>
                <a:sym typeface="Courier New"/>
              </a:rPr>
              <a:t>update_positions</a:t>
            </a:r>
            <a:r>
              <a:rPr lang="en" sz="650">
                <a:solidFill>
                  <a:srgbClr val="D4D4D4"/>
                </a:solidFill>
                <a:highlight>
                  <a:srgbClr val="1F1F1F"/>
                </a:highlight>
                <a:latin typeface="Courier New"/>
                <a:ea typeface="Courier New"/>
                <a:cs typeface="Courier New"/>
                <a:sym typeface="Courier New"/>
              </a:rPr>
              <a:t>&lt;&lt;&lt;</a:t>
            </a:r>
            <a:r>
              <a:rPr lang="en" sz="650">
                <a:solidFill>
                  <a:srgbClr val="9CDCFE"/>
                </a:solidFill>
                <a:highlight>
                  <a:srgbClr val="1F1F1F"/>
                </a:highlight>
                <a:latin typeface="Courier New"/>
                <a:ea typeface="Courier New"/>
                <a:cs typeface="Courier New"/>
                <a:sym typeface="Courier New"/>
              </a:rPr>
              <a:t>blocks</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threads</a:t>
            </a:r>
            <a:r>
              <a:rPr lang="en" sz="650">
                <a:solidFill>
                  <a:srgbClr val="D4D4D4"/>
                </a:solidFill>
                <a:highlight>
                  <a:srgbClr val="1F1F1F"/>
                </a:highlight>
                <a:latin typeface="Courier New"/>
                <a:ea typeface="Courier New"/>
                <a:cs typeface="Courier New"/>
                <a:sym typeface="Courier New"/>
              </a:rPr>
              <a:t>&gt;&gt;&gt;</a:t>
            </a:r>
            <a:r>
              <a:rPr lang="en" sz="650">
                <a:solidFill>
                  <a:srgbClr val="CCCCCC"/>
                </a:solidFill>
                <a:highlight>
                  <a:srgbClr val="1F1F1F"/>
                </a:highlight>
                <a:latin typeface="Courier New"/>
                <a:ea typeface="Courier New"/>
                <a:cs typeface="Courier New"/>
                <a:sym typeface="Courier New"/>
              </a:rPr>
              <a:t>(</a:t>
            </a:r>
            <a:r>
              <a:rPr lang="en" sz="650">
                <a:solidFill>
                  <a:srgbClr val="9CDCFE"/>
                </a:solidFill>
                <a:highlight>
                  <a:srgbClr val="1F1F1F"/>
                </a:highlight>
                <a:latin typeface="Courier New"/>
                <a:ea typeface="Courier New"/>
                <a:cs typeface="Courier New"/>
                <a:sym typeface="Courier New"/>
              </a:rPr>
              <a:t>n</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step_dt</a:t>
            </a:r>
            <a:r>
              <a:rPr lang="en" sz="650">
                <a:solidFill>
                  <a:srgbClr val="CCCCCC"/>
                </a:solidFill>
                <a:highlight>
                  <a:srgbClr val="1F1F1F"/>
                </a:highlight>
                <a:latin typeface="Courier New"/>
                <a:ea typeface="Courier New"/>
                <a:cs typeface="Courier New"/>
                <a:sym typeface="Courier New"/>
              </a:rPr>
              <a:t>);     </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endParaRPr sz="650">
              <a:solidFill>
                <a:srgbClr val="CCCCCC"/>
              </a:solidFill>
              <a:highlight>
                <a:srgbClr val="1F1F1F"/>
              </a:highlight>
              <a:latin typeface="Courier New"/>
              <a:ea typeface="Courier New"/>
              <a:cs typeface="Courier New"/>
              <a:sym typeface="Courier New"/>
            </a:endParaRPr>
          </a:p>
        </p:txBody>
      </p:sp>
      <p:sp>
        <p:nvSpPr>
          <p:cNvPr id="742" name="Google Shape;742;p65"/>
          <p:cNvSpPr txBox="1"/>
          <p:nvPr/>
        </p:nvSpPr>
        <p:spPr>
          <a:xfrm>
            <a:off x="5247950" y="1556925"/>
            <a:ext cx="3182100" cy="1914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650">
                <a:solidFill>
                  <a:srgbClr val="C586C0"/>
                </a:solidFill>
                <a:highlight>
                  <a:srgbClr val="1F1F1F"/>
                </a:highlight>
                <a:latin typeface="Courier New"/>
                <a:ea typeface="Courier New"/>
                <a:cs typeface="Courier New"/>
                <a:sym typeface="Courier New"/>
              </a:rPr>
              <a:t>for</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t</a:t>
            </a:r>
            <a:r>
              <a:rPr lang="en" sz="650">
                <a:solidFill>
                  <a:srgbClr val="CCCCCC"/>
                </a:solidFill>
                <a:highlight>
                  <a:srgbClr val="1F1F1F"/>
                </a:highlight>
                <a:latin typeface="Courier New"/>
                <a:ea typeface="Courier New"/>
                <a:cs typeface="Courier New"/>
                <a:sym typeface="Courier New"/>
              </a:rPr>
              <a:t> </a:t>
            </a:r>
            <a:r>
              <a:rPr lang="en" sz="650">
                <a:solidFill>
                  <a:srgbClr val="D4D4D4"/>
                </a:solidFill>
                <a:highlight>
                  <a:srgbClr val="1F1F1F"/>
                </a:highlight>
                <a:latin typeface="Courier New"/>
                <a:ea typeface="Courier New"/>
                <a:cs typeface="Courier New"/>
                <a:sym typeface="Courier New"/>
              </a:rPr>
              <a:t>&lt;</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END</a:t>
            </a:r>
            <a:r>
              <a:rPr lang="en" sz="650">
                <a:solidFill>
                  <a:srgbClr val="CCCCCC"/>
                </a:solidFill>
                <a:highlight>
                  <a:srgbClr val="1F1F1F"/>
                </a:highlight>
                <a:latin typeface="Courier New"/>
                <a:ea typeface="Courier New"/>
                <a:cs typeface="Courier New"/>
                <a:sym typeface="Courier New"/>
              </a:rPr>
              <a:t>) {</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r>
              <a:rPr lang="en" sz="650">
                <a:solidFill>
                  <a:srgbClr val="DCDCAA"/>
                </a:solidFill>
                <a:highlight>
                  <a:srgbClr val="1F1F1F"/>
                </a:highlight>
                <a:latin typeface="Courier New"/>
                <a:ea typeface="Courier New"/>
                <a:cs typeface="Courier New"/>
                <a:sym typeface="Courier New"/>
              </a:rPr>
              <a:t>copy_device_to_host</a:t>
            </a:r>
            <a:r>
              <a:rPr lang="en" sz="650">
                <a:solidFill>
                  <a:srgbClr val="CCCCCC"/>
                </a:solidFill>
                <a:highlight>
                  <a:srgbClr val="1F1F1F"/>
                </a:highlight>
                <a:latin typeface="Courier New"/>
                <a:ea typeface="Courier New"/>
                <a:cs typeface="Courier New"/>
                <a:sym typeface="Courier New"/>
              </a:rPr>
              <a:t>(</a:t>
            </a:r>
            <a:r>
              <a:rPr lang="en" sz="650">
                <a:solidFill>
                  <a:srgbClr val="9CDCFE"/>
                </a:solidFill>
                <a:highlight>
                  <a:srgbClr val="1F1F1F"/>
                </a:highlight>
                <a:latin typeface="Courier New"/>
                <a:ea typeface="Courier New"/>
                <a:cs typeface="Courier New"/>
                <a:sym typeface="Courier New"/>
              </a:rPr>
              <a:t>bodies</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h_x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h_y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h_z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h_vx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h_vy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h_vz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d_vz</a:t>
            </a:r>
            <a:r>
              <a:rPr lang="en" sz="650">
                <a:solidFill>
                  <a:srgbClr val="CCCCCC"/>
                </a:solidFill>
                <a:highlight>
                  <a:srgbClr val="1F1F1F"/>
                </a:highlight>
                <a:latin typeface="Courier New"/>
                <a:ea typeface="Courier New"/>
                <a:cs typeface="Courier New"/>
                <a:sym typeface="Courier New"/>
              </a:rPr>
              <a:t>);</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r>
              <a:rPr lang="en" sz="650">
                <a:solidFill>
                  <a:srgbClr val="DCDCAA"/>
                </a:solidFill>
                <a:highlight>
                  <a:srgbClr val="1F1F1F"/>
                </a:highlight>
                <a:latin typeface="Courier New"/>
                <a:ea typeface="Courier New"/>
                <a:cs typeface="Courier New"/>
                <a:sym typeface="Courier New"/>
              </a:rPr>
              <a:t>print_toFile(</a:t>
            </a:r>
            <a:r>
              <a:rPr lang="en" sz="650">
                <a:solidFill>
                  <a:srgbClr val="9CDCFE"/>
                </a:solidFill>
                <a:highlight>
                  <a:srgbClr val="1F1F1F"/>
                </a:highlight>
                <a:latin typeface="Courier New"/>
                <a:ea typeface="Courier New"/>
                <a:cs typeface="Courier New"/>
                <a:sym typeface="Courier New"/>
              </a:rPr>
              <a:t>bodies</a:t>
            </a:r>
            <a:r>
              <a:rPr lang="en" sz="650">
                <a:solidFill>
                  <a:srgbClr val="DCDCAA"/>
                </a:solidFill>
                <a:highlight>
                  <a:srgbClr val="1F1F1F"/>
                </a:highlight>
                <a:latin typeface="Courier New"/>
                <a:ea typeface="Courier New"/>
                <a:cs typeface="Courier New"/>
                <a:sym typeface="Courier New"/>
              </a:rPr>
              <a:t>)</a:t>
            </a:r>
            <a:r>
              <a:rPr lang="en" sz="650">
                <a:solidFill>
                  <a:srgbClr val="CCCCCC"/>
                </a:solidFill>
                <a:highlight>
                  <a:srgbClr val="1F1F1F"/>
                </a:highlight>
                <a:latin typeface="Courier New"/>
                <a:ea typeface="Courier New"/>
                <a:cs typeface="Courier New"/>
                <a:sym typeface="Courier New"/>
              </a:rPr>
              <a:t>;//print </a:t>
            </a:r>
            <a:r>
              <a:rPr lang="en" sz="650">
                <a:solidFill>
                  <a:srgbClr val="CCCCCC"/>
                </a:solidFill>
                <a:highlight>
                  <a:srgbClr val="1F1F1F"/>
                </a:highlight>
                <a:latin typeface="Courier New"/>
                <a:ea typeface="Courier New"/>
                <a:cs typeface="Courier New"/>
                <a:sym typeface="Courier New"/>
              </a:rPr>
              <a:t>every time</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586C0"/>
                </a:solidFill>
                <a:highlight>
                  <a:srgbClr val="1F1F1F"/>
                </a:highlight>
                <a:latin typeface="Courier New"/>
                <a:ea typeface="Courier New"/>
                <a:cs typeface="Courier New"/>
                <a:sym typeface="Courier New"/>
              </a:rPr>
              <a:t>while</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t</a:t>
            </a:r>
            <a:r>
              <a:rPr lang="en" sz="650">
                <a:solidFill>
                  <a:srgbClr val="CCCCCC"/>
                </a:solidFill>
                <a:highlight>
                  <a:srgbClr val="1F1F1F"/>
                </a:highlight>
                <a:latin typeface="Courier New"/>
                <a:ea typeface="Courier New"/>
                <a:cs typeface="Courier New"/>
                <a:sym typeface="Courier New"/>
              </a:rPr>
              <a:t> </a:t>
            </a:r>
            <a:r>
              <a:rPr lang="en" sz="650">
                <a:solidFill>
                  <a:srgbClr val="D4D4D4"/>
                </a:solidFill>
                <a:highlight>
                  <a:srgbClr val="1F1F1F"/>
                </a:highlight>
                <a:latin typeface="Courier New"/>
                <a:ea typeface="Courier New"/>
                <a:cs typeface="Courier New"/>
                <a:sym typeface="Courier New"/>
              </a:rPr>
              <a:t>&lt;</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END</a:t>
            </a:r>
            <a:r>
              <a:rPr lang="en" sz="650">
                <a:solidFill>
                  <a:srgbClr val="CCCCCC"/>
                </a:solidFill>
                <a:highlight>
                  <a:srgbClr val="1F1F1F"/>
                </a:highlight>
                <a:latin typeface="Courier New"/>
                <a:ea typeface="Courier New"/>
                <a:cs typeface="Courier New"/>
                <a:sym typeface="Courier New"/>
              </a:rPr>
              <a:t>) {</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r>
              <a:rPr lang="en" sz="650">
                <a:solidFill>
                  <a:srgbClr val="DCDCAA"/>
                </a:solidFill>
                <a:highlight>
                  <a:srgbClr val="1F1F1F"/>
                </a:highlight>
                <a:latin typeface="Courier New"/>
                <a:ea typeface="Courier New"/>
                <a:cs typeface="Courier New"/>
                <a:sym typeface="Courier New"/>
              </a:rPr>
              <a:t>update_velocities</a:t>
            </a:r>
            <a:r>
              <a:rPr lang="en" sz="650">
                <a:solidFill>
                  <a:srgbClr val="D4D4D4"/>
                </a:solidFill>
                <a:highlight>
                  <a:srgbClr val="1F1F1F"/>
                </a:highlight>
                <a:latin typeface="Courier New"/>
                <a:ea typeface="Courier New"/>
                <a:cs typeface="Courier New"/>
                <a:sym typeface="Courier New"/>
              </a:rPr>
              <a:t>&lt;&lt;&lt;</a:t>
            </a:r>
            <a:r>
              <a:rPr lang="en" sz="650">
                <a:solidFill>
                  <a:srgbClr val="9CDCFE"/>
                </a:solidFill>
                <a:highlight>
                  <a:srgbClr val="1F1F1F"/>
                </a:highlight>
                <a:latin typeface="Courier New"/>
                <a:ea typeface="Courier New"/>
                <a:cs typeface="Courier New"/>
                <a:sym typeface="Courier New"/>
              </a:rPr>
              <a:t>blocks</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threads</a:t>
            </a:r>
            <a:r>
              <a:rPr lang="en" sz="650">
                <a:solidFill>
                  <a:srgbClr val="D4D4D4"/>
                </a:solidFill>
                <a:highlight>
                  <a:srgbClr val="1F1F1F"/>
                </a:highlight>
                <a:latin typeface="Courier New"/>
                <a:ea typeface="Courier New"/>
                <a:cs typeface="Courier New"/>
                <a:sym typeface="Courier New"/>
              </a:rPr>
              <a:t>&gt;&gt;&gt;</a:t>
            </a:r>
            <a:r>
              <a:rPr lang="en" sz="650">
                <a:solidFill>
                  <a:srgbClr val="CCCCCC"/>
                </a:solidFill>
                <a:highlight>
                  <a:srgbClr val="1F1F1F"/>
                </a:highlight>
                <a:latin typeface="Courier New"/>
                <a:ea typeface="Courier New"/>
                <a:cs typeface="Courier New"/>
                <a:sym typeface="Courier New"/>
              </a:rPr>
              <a:t>(</a:t>
            </a:r>
            <a:r>
              <a:rPr lang="en" sz="650">
                <a:solidFill>
                  <a:srgbClr val="9CDCFE"/>
                </a:solidFill>
                <a:highlight>
                  <a:srgbClr val="1F1F1F"/>
                </a:highlight>
                <a:latin typeface="Courier New"/>
                <a:ea typeface="Courier New"/>
                <a:cs typeface="Courier New"/>
                <a:sym typeface="Courier New"/>
              </a:rPr>
              <a:t>n</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d_m</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step_dt</a:t>
            </a:r>
            <a:r>
              <a:rPr lang="en" sz="650">
                <a:solidFill>
                  <a:srgbClr val="CCCCCC"/>
                </a:solidFill>
                <a:highlight>
                  <a:srgbClr val="1F1F1F"/>
                </a:highlight>
                <a:latin typeface="Courier New"/>
                <a:ea typeface="Courier New"/>
                <a:cs typeface="Courier New"/>
                <a:sym typeface="Courier New"/>
              </a:rPr>
              <a:t>);</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r>
              <a:rPr lang="en" sz="650">
                <a:solidFill>
                  <a:srgbClr val="DCDCAA"/>
                </a:solidFill>
                <a:highlight>
                  <a:srgbClr val="1F1F1F"/>
                </a:highlight>
                <a:latin typeface="Courier New"/>
                <a:ea typeface="Courier New"/>
                <a:cs typeface="Courier New"/>
                <a:sym typeface="Courier New"/>
              </a:rPr>
              <a:t>cudaDeviceSynchronize</a:t>
            </a:r>
            <a:r>
              <a:rPr lang="en" sz="650">
                <a:solidFill>
                  <a:srgbClr val="CCCCCC"/>
                </a:solidFill>
                <a:highlight>
                  <a:srgbClr val="1F1F1F"/>
                </a:highlight>
                <a:latin typeface="Courier New"/>
                <a:ea typeface="Courier New"/>
                <a:cs typeface="Courier New"/>
                <a:sym typeface="Courier New"/>
              </a:rPr>
              <a:t>()</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r>
              <a:rPr lang="en" sz="650">
                <a:solidFill>
                  <a:srgbClr val="DCDCAA"/>
                </a:solidFill>
                <a:highlight>
                  <a:srgbClr val="1F1F1F"/>
                </a:highlight>
                <a:latin typeface="Courier New"/>
                <a:ea typeface="Courier New"/>
                <a:cs typeface="Courier New"/>
                <a:sym typeface="Courier New"/>
              </a:rPr>
              <a:t>update_positions</a:t>
            </a:r>
            <a:r>
              <a:rPr lang="en" sz="650">
                <a:solidFill>
                  <a:srgbClr val="D4D4D4"/>
                </a:solidFill>
                <a:highlight>
                  <a:srgbClr val="1F1F1F"/>
                </a:highlight>
                <a:latin typeface="Courier New"/>
                <a:ea typeface="Courier New"/>
                <a:cs typeface="Courier New"/>
                <a:sym typeface="Courier New"/>
              </a:rPr>
              <a:t>&lt;&lt;&lt;</a:t>
            </a:r>
            <a:r>
              <a:rPr lang="en" sz="650">
                <a:solidFill>
                  <a:srgbClr val="9CDCFE"/>
                </a:solidFill>
                <a:highlight>
                  <a:srgbClr val="1F1F1F"/>
                </a:highlight>
                <a:latin typeface="Courier New"/>
                <a:ea typeface="Courier New"/>
                <a:cs typeface="Courier New"/>
                <a:sym typeface="Courier New"/>
              </a:rPr>
              <a:t>blocks</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threads</a:t>
            </a:r>
            <a:r>
              <a:rPr lang="en" sz="650">
                <a:solidFill>
                  <a:srgbClr val="D4D4D4"/>
                </a:solidFill>
                <a:highlight>
                  <a:srgbClr val="1F1F1F"/>
                </a:highlight>
                <a:latin typeface="Courier New"/>
                <a:ea typeface="Courier New"/>
                <a:cs typeface="Courier New"/>
                <a:sym typeface="Courier New"/>
              </a:rPr>
              <a:t>&gt;&gt;&gt;</a:t>
            </a:r>
            <a:r>
              <a:rPr lang="en" sz="650">
                <a:solidFill>
                  <a:srgbClr val="CCCCCC"/>
                </a:solidFill>
                <a:highlight>
                  <a:srgbClr val="1F1F1F"/>
                </a:highlight>
                <a:latin typeface="Courier New"/>
                <a:ea typeface="Courier New"/>
                <a:cs typeface="Courier New"/>
                <a:sym typeface="Courier New"/>
              </a:rPr>
              <a:t>(</a:t>
            </a:r>
            <a:r>
              <a:rPr lang="en" sz="650">
                <a:solidFill>
                  <a:srgbClr val="9CDCFE"/>
                </a:solidFill>
                <a:highlight>
                  <a:srgbClr val="1F1F1F"/>
                </a:highlight>
                <a:latin typeface="Courier New"/>
                <a:ea typeface="Courier New"/>
                <a:cs typeface="Courier New"/>
                <a:sym typeface="Courier New"/>
              </a:rPr>
              <a:t>n</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d_vx</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d_vy</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d_vz</a:t>
            </a:r>
            <a:r>
              <a:rPr lang="en" sz="650">
                <a:solidFill>
                  <a:srgbClr val="CCCCCC"/>
                </a:solidFill>
                <a:highlight>
                  <a:srgbClr val="1F1F1F"/>
                </a:highlight>
                <a:latin typeface="Courier New"/>
                <a:ea typeface="Courier New"/>
                <a:cs typeface="Courier New"/>
                <a:sym typeface="Courier New"/>
              </a:rPr>
              <a:t>, </a:t>
            </a:r>
            <a:r>
              <a:rPr lang="en" sz="650">
                <a:solidFill>
                  <a:srgbClr val="9CDCFE"/>
                </a:solidFill>
                <a:highlight>
                  <a:srgbClr val="1F1F1F"/>
                </a:highlight>
                <a:latin typeface="Courier New"/>
                <a:ea typeface="Courier New"/>
                <a:cs typeface="Courier New"/>
                <a:sym typeface="Courier New"/>
              </a:rPr>
              <a:t>step_dt</a:t>
            </a:r>
            <a:r>
              <a:rPr lang="en" sz="650">
                <a:solidFill>
                  <a:srgbClr val="CCCCCC"/>
                </a:solidFill>
                <a:highlight>
                  <a:srgbClr val="1F1F1F"/>
                </a:highlight>
                <a:latin typeface="Courier New"/>
                <a:ea typeface="Courier New"/>
                <a:cs typeface="Courier New"/>
                <a:sym typeface="Courier New"/>
              </a:rPr>
              <a:t>);</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r>
              <a:rPr lang="en" sz="650">
                <a:solidFill>
                  <a:srgbClr val="569CD6"/>
                </a:solidFill>
                <a:highlight>
                  <a:srgbClr val="1F1F1F"/>
                </a:highlight>
                <a:latin typeface="Courier New"/>
                <a:ea typeface="Courier New"/>
                <a:cs typeface="Courier New"/>
                <a:sym typeface="Courier New"/>
              </a:rPr>
              <a:t>CUDA_CHECK</a:t>
            </a:r>
            <a:r>
              <a:rPr lang="en" sz="650">
                <a:solidFill>
                  <a:srgbClr val="CCCCCC"/>
                </a:solidFill>
                <a:highlight>
                  <a:srgbClr val="1F1F1F"/>
                </a:highlight>
                <a:latin typeface="Courier New"/>
                <a:ea typeface="Courier New"/>
                <a:cs typeface="Courier New"/>
                <a:sym typeface="Courier New"/>
              </a:rPr>
              <a:t>(</a:t>
            </a:r>
            <a:r>
              <a:rPr lang="en" sz="650">
                <a:solidFill>
                  <a:srgbClr val="DCDCAA"/>
                </a:solidFill>
                <a:highlight>
                  <a:srgbClr val="1F1F1F"/>
                </a:highlight>
                <a:latin typeface="Courier New"/>
                <a:ea typeface="Courier New"/>
                <a:cs typeface="Courier New"/>
                <a:sym typeface="Courier New"/>
              </a:rPr>
              <a:t>cudaDeviceSynchronize</a:t>
            </a:r>
            <a:r>
              <a:rPr lang="en" sz="650">
                <a:solidFill>
                  <a:srgbClr val="CCCCCC"/>
                </a:solidFill>
                <a:highlight>
                  <a:srgbClr val="1F1F1F"/>
                </a:highlight>
                <a:latin typeface="Courier New"/>
                <a:ea typeface="Courier New"/>
                <a:cs typeface="Courier New"/>
                <a:sym typeface="Courier New"/>
              </a:rPr>
              <a:t>());</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endParaRPr sz="6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50">
                <a:solidFill>
                  <a:srgbClr val="CCCCCC"/>
                </a:solidFill>
                <a:highlight>
                  <a:srgbClr val="1F1F1F"/>
                </a:highlight>
                <a:latin typeface="Courier New"/>
                <a:ea typeface="Courier New"/>
                <a:cs typeface="Courier New"/>
                <a:sym typeface="Courier New"/>
              </a:rPr>
              <a:t>   }</a:t>
            </a:r>
            <a:endParaRPr sz="650">
              <a:solidFill>
                <a:srgbClr val="CCCCCC"/>
              </a:solidFill>
              <a:highlight>
                <a:srgbClr val="1F1F1F"/>
              </a:highlight>
              <a:latin typeface="Courier New"/>
              <a:ea typeface="Courier New"/>
              <a:cs typeface="Courier New"/>
              <a:sym typeface="Courier New"/>
            </a:endParaRPr>
          </a:p>
        </p:txBody>
      </p:sp>
      <p:sp>
        <p:nvSpPr>
          <p:cNvPr id="743" name="Google Shape;743;p65"/>
          <p:cNvSpPr/>
          <p:nvPr/>
        </p:nvSpPr>
        <p:spPr>
          <a:xfrm>
            <a:off x="394925" y="1516550"/>
            <a:ext cx="2574600" cy="822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lnSpc>
                <a:spcPct val="115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744" name="Google Shape;744;p65"/>
          <p:cNvSpPr txBox="1"/>
          <p:nvPr>
            <p:ph idx="4294967295" type="subTitle"/>
          </p:nvPr>
        </p:nvSpPr>
        <p:spPr>
          <a:xfrm>
            <a:off x="793175" y="1516550"/>
            <a:ext cx="1887300" cy="6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not copy data for each time step forward</a:t>
            </a:r>
            <a:endParaRPr/>
          </a:p>
        </p:txBody>
      </p:sp>
      <p:sp>
        <p:nvSpPr>
          <p:cNvPr id="745" name="Google Shape;745;p65"/>
          <p:cNvSpPr/>
          <p:nvPr/>
        </p:nvSpPr>
        <p:spPr>
          <a:xfrm>
            <a:off x="5354750" y="529750"/>
            <a:ext cx="2574600" cy="822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lnSpc>
                <a:spcPct val="115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746" name="Google Shape;746;p65"/>
          <p:cNvSpPr txBox="1"/>
          <p:nvPr>
            <p:ph idx="4294967295" type="subTitle"/>
          </p:nvPr>
        </p:nvSpPr>
        <p:spPr>
          <a:xfrm>
            <a:off x="5730200" y="615100"/>
            <a:ext cx="1887300" cy="6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Copy and print to file every iteration</a:t>
            </a:r>
            <a:endParaRPr/>
          </a:p>
        </p:txBody>
      </p:sp>
      <p:cxnSp>
        <p:nvCxnSpPr>
          <p:cNvPr id="747" name="Google Shape;747;p65"/>
          <p:cNvCxnSpPr/>
          <p:nvPr/>
        </p:nvCxnSpPr>
        <p:spPr>
          <a:xfrm rot="10800000">
            <a:off x="3409900" y="2339150"/>
            <a:ext cx="1602600" cy="15300"/>
          </a:xfrm>
          <a:prstGeom prst="straightConnector1">
            <a:avLst/>
          </a:prstGeom>
          <a:noFill/>
          <a:ln cap="flat" cmpd="sng" w="9525">
            <a:solidFill>
              <a:schemeClr val="dk2"/>
            </a:solidFill>
            <a:prstDash val="solid"/>
            <a:round/>
            <a:headEnd len="med" w="med" type="none"/>
            <a:tailEnd len="med" w="med" type="triangle"/>
          </a:ln>
        </p:spPr>
      </p:cxnSp>
      <p:sp>
        <p:nvSpPr>
          <p:cNvPr id="748" name="Google Shape;748;p65"/>
          <p:cNvSpPr txBox="1"/>
          <p:nvPr>
            <p:ph type="title"/>
          </p:nvPr>
        </p:nvSpPr>
        <p:spPr>
          <a:xfrm>
            <a:off x="3774238" y="1761225"/>
            <a:ext cx="8739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1000"/>
              <a:t>Huge time improvement!</a:t>
            </a:r>
            <a:endParaRPr sz="1000"/>
          </a:p>
        </p:txBody>
      </p:sp>
      <p:cxnSp>
        <p:nvCxnSpPr>
          <p:cNvPr id="749" name="Google Shape;749;p65"/>
          <p:cNvCxnSpPr/>
          <p:nvPr/>
        </p:nvCxnSpPr>
        <p:spPr>
          <a:xfrm>
            <a:off x="7290900" y="3516350"/>
            <a:ext cx="15300" cy="630300"/>
          </a:xfrm>
          <a:prstGeom prst="straightConnector1">
            <a:avLst/>
          </a:prstGeom>
          <a:noFill/>
          <a:ln cap="flat" cmpd="sng" w="9525">
            <a:solidFill>
              <a:schemeClr val="dk2"/>
            </a:solidFill>
            <a:prstDash val="solid"/>
            <a:round/>
            <a:headEnd len="med" w="med" type="none"/>
            <a:tailEnd len="med" w="med" type="triangle"/>
          </a:ln>
        </p:spPr>
      </p:cxnSp>
      <p:sp>
        <p:nvSpPr>
          <p:cNvPr id="750" name="Google Shape;750;p65"/>
          <p:cNvSpPr txBox="1"/>
          <p:nvPr>
            <p:ph type="title"/>
          </p:nvPr>
        </p:nvSpPr>
        <p:spPr>
          <a:xfrm>
            <a:off x="6303950" y="4277525"/>
            <a:ext cx="2126100" cy="4062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800"/>
              <a:t>Warps will be idle in condition switching! While loop in for loop wastes a lot of time</a:t>
            </a:r>
            <a:endParaRPr sz="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6"/>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A short video is generated as the final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do a live demo (if time permitting)</a:t>
            </a:r>
            <a:endParaRPr/>
          </a:p>
        </p:txBody>
      </p:sp>
      <p:sp>
        <p:nvSpPr>
          <p:cNvPr id="756" name="Google Shape;756;p66"/>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Results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7"/>
          <p:cNvSpPr/>
          <p:nvPr/>
        </p:nvSpPr>
        <p:spPr>
          <a:xfrm>
            <a:off x="940500" y="838925"/>
            <a:ext cx="2947500" cy="1285500"/>
          </a:xfrm>
          <a:prstGeom prst="snip1Rect">
            <a:avLst>
              <a:gd fmla="val 18586"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62" name="Google Shape;762;p67"/>
          <p:cNvSpPr/>
          <p:nvPr/>
        </p:nvSpPr>
        <p:spPr>
          <a:xfrm>
            <a:off x="228600" y="845675"/>
            <a:ext cx="711900" cy="1272000"/>
          </a:xfrm>
          <a:prstGeom prst="snip2DiagRect">
            <a:avLst>
              <a:gd fmla="val 0" name="adj1"/>
              <a:gd fmla="val 40297" name="adj2"/>
            </a:avLst>
          </a:prstGeom>
          <a:solidFill>
            <a:schemeClr val="dk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63" name="Google Shape;763;p67"/>
          <p:cNvSpPr txBox="1"/>
          <p:nvPr>
            <p:ph idx="4294967295" type="subTitle"/>
          </p:nvPr>
        </p:nvSpPr>
        <p:spPr>
          <a:xfrm>
            <a:off x="233400" y="1093625"/>
            <a:ext cx="702300" cy="77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64" name="Google Shape;764;p67"/>
          <p:cNvSpPr txBox="1"/>
          <p:nvPr>
            <p:ph idx="4294967295" type="subTitle"/>
          </p:nvPr>
        </p:nvSpPr>
        <p:spPr>
          <a:xfrm>
            <a:off x="1104400" y="1093625"/>
            <a:ext cx="24777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Generate a txt file by Gravity simulation containing all history data ranging from t=0 to t=1 year</a:t>
            </a:r>
            <a:endParaRPr sz="1100"/>
          </a:p>
          <a:p>
            <a:pPr indent="0" lvl="0" marL="0" rtl="0" algn="l">
              <a:spcBef>
                <a:spcPts val="0"/>
              </a:spcBef>
              <a:spcAft>
                <a:spcPts val="0"/>
              </a:spcAft>
              <a:buNone/>
            </a:pPr>
            <a:r>
              <a:rPr lang="en" sz="1100"/>
              <a:t>Name, x,y,z</a:t>
            </a:r>
            <a:endParaRPr sz="1100"/>
          </a:p>
        </p:txBody>
      </p:sp>
      <p:sp>
        <p:nvSpPr>
          <p:cNvPr id="765" name="Google Shape;765;p67"/>
          <p:cNvSpPr txBox="1"/>
          <p:nvPr>
            <p:ph type="title"/>
          </p:nvPr>
        </p:nvSpPr>
        <p:spPr>
          <a:xfrm>
            <a:off x="111725" y="0"/>
            <a:ext cx="8307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Steps:</a:t>
            </a:r>
            <a:endParaRPr/>
          </a:p>
        </p:txBody>
      </p:sp>
      <p:sp>
        <p:nvSpPr>
          <p:cNvPr id="766" name="Google Shape;766;p67"/>
          <p:cNvSpPr/>
          <p:nvPr/>
        </p:nvSpPr>
        <p:spPr>
          <a:xfrm>
            <a:off x="945300" y="2118575"/>
            <a:ext cx="2947500" cy="1285500"/>
          </a:xfrm>
          <a:prstGeom prst="snip1Rect">
            <a:avLst>
              <a:gd fmla="val 18586"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67" name="Google Shape;767;p67"/>
          <p:cNvSpPr/>
          <p:nvPr/>
        </p:nvSpPr>
        <p:spPr>
          <a:xfrm>
            <a:off x="233400" y="2125325"/>
            <a:ext cx="711900" cy="1272000"/>
          </a:xfrm>
          <a:prstGeom prst="snip2DiagRect">
            <a:avLst>
              <a:gd fmla="val 0" name="adj1"/>
              <a:gd fmla="val 40297" name="adj2"/>
            </a:avLst>
          </a:prstGeom>
          <a:solidFill>
            <a:schemeClr val="dk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68" name="Google Shape;768;p67"/>
          <p:cNvSpPr txBox="1"/>
          <p:nvPr>
            <p:ph idx="4294967295" type="subTitle"/>
          </p:nvPr>
        </p:nvSpPr>
        <p:spPr>
          <a:xfrm>
            <a:off x="238200" y="2373275"/>
            <a:ext cx="702300" cy="77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769" name="Google Shape;769;p67"/>
          <p:cNvSpPr txBox="1"/>
          <p:nvPr>
            <p:ph idx="4294967295" type="subTitle"/>
          </p:nvPr>
        </p:nvSpPr>
        <p:spPr>
          <a:xfrm>
            <a:off x="1113975" y="2080050"/>
            <a:ext cx="24777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Based on the generated txt file.</a:t>
            </a:r>
            <a:endParaRPr sz="1100"/>
          </a:p>
          <a:p>
            <a:pPr indent="0" lvl="0" marL="0" rtl="0" algn="l">
              <a:spcBef>
                <a:spcPts val="0"/>
              </a:spcBef>
              <a:spcAft>
                <a:spcPts val="0"/>
              </a:spcAft>
              <a:buNone/>
            </a:pPr>
            <a:r>
              <a:rPr lang="en" sz="1100"/>
              <a:t>Read the file and use ray tracing to generate each frame for the entire timeline. Since total number of frames will be large, we will only generate certain frames and abort the application.</a:t>
            </a:r>
            <a:endParaRPr sz="1100"/>
          </a:p>
        </p:txBody>
      </p:sp>
      <p:sp>
        <p:nvSpPr>
          <p:cNvPr id="770" name="Google Shape;770;p67"/>
          <p:cNvSpPr/>
          <p:nvPr/>
        </p:nvSpPr>
        <p:spPr>
          <a:xfrm>
            <a:off x="940500" y="3398225"/>
            <a:ext cx="2947500" cy="1285500"/>
          </a:xfrm>
          <a:prstGeom prst="snip1Rect">
            <a:avLst>
              <a:gd fmla="val 18586"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71" name="Google Shape;771;p67"/>
          <p:cNvSpPr/>
          <p:nvPr/>
        </p:nvSpPr>
        <p:spPr>
          <a:xfrm>
            <a:off x="228600" y="3404975"/>
            <a:ext cx="711900" cy="1272000"/>
          </a:xfrm>
          <a:prstGeom prst="snip2DiagRect">
            <a:avLst>
              <a:gd fmla="val 0" name="adj1"/>
              <a:gd fmla="val 40297" name="adj2"/>
            </a:avLst>
          </a:prstGeom>
          <a:solidFill>
            <a:schemeClr val="dk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72" name="Google Shape;772;p67"/>
          <p:cNvSpPr txBox="1"/>
          <p:nvPr>
            <p:ph idx="4294967295" type="subTitle"/>
          </p:nvPr>
        </p:nvSpPr>
        <p:spPr>
          <a:xfrm>
            <a:off x="233400" y="3652925"/>
            <a:ext cx="702300" cy="77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773" name="Google Shape;773;p67"/>
          <p:cNvSpPr txBox="1"/>
          <p:nvPr>
            <p:ph idx="4294967295" type="subTitle"/>
          </p:nvPr>
        </p:nvSpPr>
        <p:spPr>
          <a:xfrm>
            <a:off x="1160350" y="3792875"/>
            <a:ext cx="24777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Generate a video using ffmpeg package on Linux</a:t>
            </a:r>
            <a:endParaRPr sz="1100"/>
          </a:p>
        </p:txBody>
      </p:sp>
      <p:pic>
        <p:nvPicPr>
          <p:cNvPr id="774" name="Google Shape;774;p67" title="Screenshot from 2025-12-09 19-38-07.png"/>
          <p:cNvPicPr preferRelativeResize="0"/>
          <p:nvPr/>
        </p:nvPicPr>
        <p:blipFill>
          <a:blip r:embed="rId3">
            <a:alphaModFix/>
          </a:blip>
          <a:stretch>
            <a:fillRect/>
          </a:stretch>
        </p:blipFill>
        <p:spPr>
          <a:xfrm>
            <a:off x="5426537" y="143100"/>
            <a:ext cx="2752525" cy="2399425"/>
          </a:xfrm>
          <a:prstGeom prst="rect">
            <a:avLst/>
          </a:prstGeom>
          <a:noFill/>
          <a:ln>
            <a:noFill/>
          </a:ln>
        </p:spPr>
      </p:pic>
      <p:pic>
        <p:nvPicPr>
          <p:cNvPr id="775" name="Google Shape;775;p67" title="frame_0_converted.jpg"/>
          <p:cNvPicPr preferRelativeResize="0"/>
          <p:nvPr/>
        </p:nvPicPr>
        <p:blipFill>
          <a:blip r:embed="rId4">
            <a:alphaModFix/>
          </a:blip>
          <a:stretch>
            <a:fillRect/>
          </a:stretch>
        </p:blipFill>
        <p:spPr>
          <a:xfrm>
            <a:off x="4820475" y="2667750"/>
            <a:ext cx="3964648" cy="23602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grpSp>
        <p:nvGrpSpPr>
          <p:cNvPr id="780" name="Google Shape;780;p68"/>
          <p:cNvGrpSpPr/>
          <p:nvPr/>
        </p:nvGrpSpPr>
        <p:grpSpPr>
          <a:xfrm flipH="1">
            <a:off x="7231564" y="79814"/>
            <a:ext cx="1831025" cy="1512212"/>
            <a:chOff x="7084364" y="227014"/>
            <a:chExt cx="1831025" cy="1512212"/>
          </a:xfrm>
        </p:grpSpPr>
        <p:sp>
          <p:nvSpPr>
            <p:cNvPr id="781" name="Google Shape;781;p68"/>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2" name="Google Shape;782;p68"/>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3" name="Google Shape;783;p68"/>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4" name="Google Shape;784;p68"/>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5" name="Google Shape;785;p68"/>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6" name="Google Shape;786;p68"/>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7" name="Google Shape;787;p68"/>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8" name="Google Shape;788;p68"/>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9" name="Google Shape;789;p68"/>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0" name="Google Shape;790;p68"/>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1" name="Google Shape;791;p68"/>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2" name="Google Shape;792;p68"/>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3" name="Google Shape;793;p68"/>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4" name="Google Shape;794;p68"/>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5" name="Google Shape;795;p68"/>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6" name="Google Shape;796;p68"/>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7" name="Google Shape;797;p68"/>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8" name="Google Shape;798;p68"/>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9" name="Google Shape;799;p68"/>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0" name="Google Shape;800;p68"/>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1" name="Google Shape;801;p68"/>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2" name="Google Shape;802;p68"/>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3" name="Google Shape;803;p68"/>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4" name="Google Shape;804;p68"/>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pic>
        <p:nvPicPr>
          <p:cNvPr id="805" name="Google Shape;805;p68" title="simulation_1year.mp4">
            <a:hlinkClick r:id="rId3"/>
          </p:cNvPr>
          <p:cNvPicPr preferRelativeResize="0"/>
          <p:nvPr/>
        </p:nvPicPr>
        <p:blipFill>
          <a:blip r:embed="rId4">
            <a:alphaModFix/>
          </a:blip>
          <a:stretch>
            <a:fillRect/>
          </a:stretch>
        </p:blipFill>
        <p:spPr>
          <a:xfrm>
            <a:off x="2329800" y="461700"/>
            <a:ext cx="5885200" cy="4413900"/>
          </a:xfrm>
          <a:prstGeom prst="rect">
            <a:avLst/>
          </a:prstGeom>
          <a:noFill/>
          <a:ln>
            <a:noFill/>
          </a:ln>
        </p:spPr>
      </p:pic>
      <p:sp>
        <p:nvSpPr>
          <p:cNvPr id="806" name="Google Shape;806;p68"/>
          <p:cNvSpPr txBox="1"/>
          <p:nvPr>
            <p:ph type="title"/>
          </p:nvPr>
        </p:nvSpPr>
        <p:spPr>
          <a:xfrm>
            <a:off x="111725" y="0"/>
            <a:ext cx="14832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Final Result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1000"/>
                                        <p:tgtEl>
                                          <p:spTgt spid="8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69"/>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Nvidia provides system and kernel wide tools for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analyzing memory, core usages, and  many other metrics</a:t>
            </a:r>
            <a:endParaRPr/>
          </a:p>
        </p:txBody>
      </p:sp>
      <p:sp>
        <p:nvSpPr>
          <p:cNvPr id="812" name="Google Shape;812;p69"/>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Analysis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70"/>
          <p:cNvSpPr/>
          <p:nvPr/>
        </p:nvSpPr>
        <p:spPr>
          <a:xfrm>
            <a:off x="3597963" y="2039223"/>
            <a:ext cx="1546800" cy="4407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122075" lIns="122075" spcFirstLastPara="1" rIns="122075" wrap="square" tIns="122075">
            <a:noAutofit/>
          </a:bodyPr>
          <a:lstStyle/>
          <a:p>
            <a:pPr indent="0" lvl="0" marL="0" rtl="0" algn="l">
              <a:lnSpc>
                <a:spcPct val="90000"/>
              </a:lnSpc>
              <a:spcBef>
                <a:spcPts val="0"/>
              </a:spcBef>
              <a:spcAft>
                <a:spcPts val="0"/>
              </a:spcAft>
              <a:buNone/>
            </a:pPr>
            <a:r>
              <a:t/>
            </a:r>
            <a:endParaRPr sz="1335">
              <a:solidFill>
                <a:schemeClr val="lt1"/>
              </a:solidFill>
              <a:latin typeface="Red Hat Display SemiBold"/>
              <a:ea typeface="Red Hat Display SemiBold"/>
              <a:cs typeface="Red Hat Display SemiBold"/>
              <a:sym typeface="Red Hat Display SemiBold"/>
            </a:endParaRPr>
          </a:p>
        </p:txBody>
      </p:sp>
      <p:sp>
        <p:nvSpPr>
          <p:cNvPr id="818" name="Google Shape;818;p70"/>
          <p:cNvSpPr/>
          <p:nvPr/>
        </p:nvSpPr>
        <p:spPr>
          <a:xfrm>
            <a:off x="5143435" y="2039232"/>
            <a:ext cx="3420000" cy="8706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122075" lIns="122075" spcFirstLastPara="1" rIns="122075" wrap="square" tIns="122075">
            <a:noAutofit/>
          </a:bodyPr>
          <a:lstStyle/>
          <a:p>
            <a:pPr indent="0" lvl="0" marL="152627" rtl="0" algn="l">
              <a:lnSpc>
                <a:spcPct val="115000"/>
              </a:lnSpc>
              <a:spcBef>
                <a:spcPts val="0"/>
              </a:spcBef>
              <a:spcAft>
                <a:spcPts val="0"/>
              </a:spcAft>
              <a:buNone/>
            </a:pPr>
            <a:r>
              <a:t/>
            </a:r>
            <a:endParaRPr sz="1335">
              <a:solidFill>
                <a:schemeClr val="lt1"/>
              </a:solidFill>
              <a:latin typeface="Red Hat Display SemiBold"/>
              <a:ea typeface="Red Hat Display SemiBold"/>
              <a:cs typeface="Red Hat Display SemiBold"/>
              <a:sym typeface="Red Hat Display SemiBold"/>
            </a:endParaRPr>
          </a:p>
        </p:txBody>
      </p:sp>
      <p:sp>
        <p:nvSpPr>
          <p:cNvPr id="819" name="Google Shape;819;p70"/>
          <p:cNvSpPr/>
          <p:nvPr/>
        </p:nvSpPr>
        <p:spPr>
          <a:xfrm>
            <a:off x="3597963" y="3467458"/>
            <a:ext cx="1546800" cy="4407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122075" lIns="122075" spcFirstLastPara="1" rIns="122075" wrap="square" tIns="122075">
            <a:noAutofit/>
          </a:bodyPr>
          <a:lstStyle/>
          <a:p>
            <a:pPr indent="0" lvl="0" marL="0" rtl="0" algn="l">
              <a:lnSpc>
                <a:spcPct val="90000"/>
              </a:lnSpc>
              <a:spcBef>
                <a:spcPts val="0"/>
              </a:spcBef>
              <a:spcAft>
                <a:spcPts val="0"/>
              </a:spcAft>
              <a:buNone/>
            </a:pPr>
            <a:r>
              <a:t/>
            </a:r>
            <a:endParaRPr sz="1335">
              <a:solidFill>
                <a:schemeClr val="lt1"/>
              </a:solidFill>
              <a:latin typeface="Red Hat Display SemiBold"/>
              <a:ea typeface="Red Hat Display SemiBold"/>
              <a:cs typeface="Red Hat Display SemiBold"/>
              <a:sym typeface="Red Hat Display SemiBold"/>
            </a:endParaRPr>
          </a:p>
        </p:txBody>
      </p:sp>
      <p:sp>
        <p:nvSpPr>
          <p:cNvPr id="820" name="Google Shape;820;p70"/>
          <p:cNvSpPr/>
          <p:nvPr/>
        </p:nvSpPr>
        <p:spPr>
          <a:xfrm>
            <a:off x="5143435" y="3467458"/>
            <a:ext cx="3420000" cy="8706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122075" lIns="122075" spcFirstLastPara="1" rIns="122075" wrap="square" tIns="122075">
            <a:noAutofit/>
          </a:bodyPr>
          <a:lstStyle/>
          <a:p>
            <a:pPr indent="0" lvl="0" marL="152627" rtl="0" algn="l">
              <a:lnSpc>
                <a:spcPct val="115000"/>
              </a:lnSpc>
              <a:spcBef>
                <a:spcPts val="0"/>
              </a:spcBef>
              <a:spcAft>
                <a:spcPts val="0"/>
              </a:spcAft>
              <a:buNone/>
            </a:pPr>
            <a:r>
              <a:t/>
            </a:r>
            <a:endParaRPr sz="1335">
              <a:solidFill>
                <a:schemeClr val="lt1"/>
              </a:solidFill>
              <a:latin typeface="Red Hat Display SemiBold"/>
              <a:ea typeface="Red Hat Display SemiBold"/>
              <a:cs typeface="Red Hat Display SemiBold"/>
              <a:sym typeface="Red Hat Display SemiBold"/>
            </a:endParaRPr>
          </a:p>
        </p:txBody>
      </p:sp>
      <p:sp>
        <p:nvSpPr>
          <p:cNvPr id="821" name="Google Shape;821;p70"/>
          <p:cNvSpPr/>
          <p:nvPr/>
        </p:nvSpPr>
        <p:spPr>
          <a:xfrm>
            <a:off x="3597963" y="611006"/>
            <a:ext cx="1546800" cy="4407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122075" lIns="122075" spcFirstLastPara="1" rIns="122075" wrap="square" tIns="122075">
            <a:noAutofit/>
          </a:bodyPr>
          <a:lstStyle/>
          <a:p>
            <a:pPr indent="0" lvl="0" marL="0" rtl="0" algn="l">
              <a:lnSpc>
                <a:spcPct val="90000"/>
              </a:lnSpc>
              <a:spcBef>
                <a:spcPts val="0"/>
              </a:spcBef>
              <a:spcAft>
                <a:spcPts val="0"/>
              </a:spcAft>
              <a:buNone/>
            </a:pPr>
            <a:r>
              <a:t/>
            </a:r>
            <a:endParaRPr sz="1335">
              <a:solidFill>
                <a:schemeClr val="dk2"/>
              </a:solidFill>
              <a:latin typeface="Red Hat Display SemiBold"/>
              <a:ea typeface="Red Hat Display SemiBold"/>
              <a:cs typeface="Red Hat Display SemiBold"/>
              <a:sym typeface="Red Hat Display SemiBold"/>
            </a:endParaRPr>
          </a:p>
        </p:txBody>
      </p:sp>
      <p:sp>
        <p:nvSpPr>
          <p:cNvPr id="822" name="Google Shape;822;p70"/>
          <p:cNvSpPr/>
          <p:nvPr/>
        </p:nvSpPr>
        <p:spPr>
          <a:xfrm>
            <a:off x="5143435" y="611006"/>
            <a:ext cx="3420000" cy="870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122075" lIns="122075" spcFirstLastPara="1" rIns="122075" wrap="square" tIns="122075">
            <a:noAutofit/>
          </a:bodyPr>
          <a:lstStyle/>
          <a:p>
            <a:pPr indent="0" lvl="0" marL="152627" rtl="0" algn="l">
              <a:lnSpc>
                <a:spcPct val="115000"/>
              </a:lnSpc>
              <a:spcBef>
                <a:spcPts val="0"/>
              </a:spcBef>
              <a:spcAft>
                <a:spcPts val="0"/>
              </a:spcAft>
              <a:buNone/>
            </a:pPr>
            <a:r>
              <a:t/>
            </a:r>
            <a:endParaRPr sz="1335">
              <a:solidFill>
                <a:schemeClr val="dk2"/>
              </a:solidFill>
              <a:latin typeface="Red Hat Display SemiBold"/>
              <a:ea typeface="Red Hat Display SemiBold"/>
              <a:cs typeface="Red Hat Display SemiBold"/>
              <a:sym typeface="Red Hat Display SemiBold"/>
            </a:endParaRPr>
          </a:p>
        </p:txBody>
      </p:sp>
      <p:sp>
        <p:nvSpPr>
          <p:cNvPr id="823" name="Google Shape;823;p70"/>
          <p:cNvSpPr txBox="1"/>
          <p:nvPr>
            <p:ph idx="2" type="subTitle"/>
          </p:nvPr>
        </p:nvSpPr>
        <p:spPr>
          <a:xfrm>
            <a:off x="3818759" y="607200"/>
            <a:ext cx="1166400" cy="440700"/>
          </a:xfrm>
          <a:prstGeom prst="rect">
            <a:avLst/>
          </a:prstGeom>
        </p:spPr>
        <p:txBody>
          <a:bodyPr anchorCtr="0" anchor="ctr" bIns="122075" lIns="122075" spcFirstLastPara="1" rIns="122075" wrap="square" tIns="122075">
            <a:noAutofit/>
          </a:bodyPr>
          <a:lstStyle/>
          <a:p>
            <a:pPr indent="0" lvl="0" marL="0" rtl="0" algn="l">
              <a:spcBef>
                <a:spcPts val="0"/>
              </a:spcBef>
              <a:spcAft>
                <a:spcPts val="0"/>
              </a:spcAft>
              <a:buNone/>
            </a:pPr>
            <a:r>
              <a:rPr lang="en" sz="1335"/>
              <a:t>1</a:t>
            </a:r>
            <a:endParaRPr sz="1335"/>
          </a:p>
        </p:txBody>
      </p:sp>
      <p:sp>
        <p:nvSpPr>
          <p:cNvPr id="824" name="Google Shape;824;p70"/>
          <p:cNvSpPr txBox="1"/>
          <p:nvPr>
            <p:ph idx="3" type="subTitle"/>
          </p:nvPr>
        </p:nvSpPr>
        <p:spPr>
          <a:xfrm>
            <a:off x="5614371" y="610939"/>
            <a:ext cx="2520300" cy="870600"/>
          </a:xfrm>
          <a:prstGeom prst="rect">
            <a:avLst/>
          </a:prstGeom>
        </p:spPr>
        <p:txBody>
          <a:bodyPr anchorCtr="0" anchor="ctr" bIns="122075" lIns="122075" spcFirstLastPara="1" rIns="122075" wrap="square" tIns="122075">
            <a:noAutofit/>
          </a:bodyPr>
          <a:lstStyle/>
          <a:p>
            <a:pPr indent="0" lvl="0" marL="0" rtl="0" algn="l">
              <a:spcBef>
                <a:spcPts val="0"/>
              </a:spcBef>
              <a:spcAft>
                <a:spcPts val="0"/>
              </a:spcAft>
              <a:buNone/>
            </a:pPr>
            <a:r>
              <a:rPr lang="en" sz="1335"/>
              <a:t>Compare kernels in Gravity Simulation</a:t>
            </a:r>
            <a:endParaRPr sz="1335"/>
          </a:p>
        </p:txBody>
      </p:sp>
      <p:sp>
        <p:nvSpPr>
          <p:cNvPr id="825" name="Google Shape;825;p70"/>
          <p:cNvSpPr txBox="1"/>
          <p:nvPr>
            <p:ph idx="4" type="subTitle"/>
          </p:nvPr>
        </p:nvSpPr>
        <p:spPr>
          <a:xfrm>
            <a:off x="5614371" y="2039240"/>
            <a:ext cx="2520300" cy="870600"/>
          </a:xfrm>
          <a:prstGeom prst="rect">
            <a:avLst/>
          </a:prstGeom>
        </p:spPr>
        <p:txBody>
          <a:bodyPr anchorCtr="0" anchor="ctr" bIns="122075" lIns="122075" spcFirstLastPara="1" rIns="122075" wrap="square" tIns="122075">
            <a:noAutofit/>
          </a:bodyPr>
          <a:lstStyle/>
          <a:p>
            <a:pPr indent="0" lvl="0" marL="0" rtl="0" algn="l">
              <a:spcBef>
                <a:spcPts val="0"/>
              </a:spcBef>
              <a:spcAft>
                <a:spcPts val="0"/>
              </a:spcAft>
              <a:buNone/>
            </a:pPr>
            <a:r>
              <a:rPr lang="en" sz="1335"/>
              <a:t>Analyze Ray Tracing Kernel Performance</a:t>
            </a:r>
            <a:endParaRPr sz="1335"/>
          </a:p>
        </p:txBody>
      </p:sp>
      <p:sp>
        <p:nvSpPr>
          <p:cNvPr id="826" name="Google Shape;826;p70"/>
          <p:cNvSpPr txBox="1"/>
          <p:nvPr>
            <p:ph idx="5" type="subTitle"/>
          </p:nvPr>
        </p:nvSpPr>
        <p:spPr>
          <a:xfrm>
            <a:off x="5614371" y="3467474"/>
            <a:ext cx="2520300" cy="870600"/>
          </a:xfrm>
          <a:prstGeom prst="rect">
            <a:avLst/>
          </a:prstGeom>
        </p:spPr>
        <p:txBody>
          <a:bodyPr anchorCtr="0" anchor="ctr" bIns="122075" lIns="122075" spcFirstLastPara="1" rIns="122075" wrap="square" tIns="122075">
            <a:noAutofit/>
          </a:bodyPr>
          <a:lstStyle/>
          <a:p>
            <a:pPr indent="0" lvl="0" marL="0" rtl="0" algn="l">
              <a:spcBef>
                <a:spcPts val="0"/>
              </a:spcBef>
              <a:spcAft>
                <a:spcPts val="0"/>
              </a:spcAft>
              <a:buNone/>
            </a:pPr>
            <a:r>
              <a:rPr lang="en" sz="1335"/>
              <a:t>Benchmark </a:t>
            </a:r>
            <a:endParaRPr sz="1335"/>
          </a:p>
        </p:txBody>
      </p:sp>
      <p:sp>
        <p:nvSpPr>
          <p:cNvPr id="827" name="Google Shape;827;p70"/>
          <p:cNvSpPr txBox="1"/>
          <p:nvPr>
            <p:ph idx="6" type="subTitle"/>
          </p:nvPr>
        </p:nvSpPr>
        <p:spPr>
          <a:xfrm>
            <a:off x="3818759" y="2037337"/>
            <a:ext cx="1166400" cy="440700"/>
          </a:xfrm>
          <a:prstGeom prst="rect">
            <a:avLst/>
          </a:prstGeom>
        </p:spPr>
        <p:txBody>
          <a:bodyPr anchorCtr="0" anchor="ctr" bIns="122075" lIns="122075" spcFirstLastPara="1" rIns="122075" wrap="square" tIns="122075">
            <a:noAutofit/>
          </a:bodyPr>
          <a:lstStyle/>
          <a:p>
            <a:pPr indent="0" lvl="0" marL="0" rtl="0" algn="l">
              <a:spcBef>
                <a:spcPts val="0"/>
              </a:spcBef>
              <a:spcAft>
                <a:spcPts val="0"/>
              </a:spcAft>
              <a:buNone/>
            </a:pPr>
            <a:r>
              <a:rPr lang="en" sz="1335"/>
              <a:t>2</a:t>
            </a:r>
            <a:endParaRPr sz="1335"/>
          </a:p>
        </p:txBody>
      </p:sp>
      <p:sp>
        <p:nvSpPr>
          <p:cNvPr id="828" name="Google Shape;828;p70"/>
          <p:cNvSpPr txBox="1"/>
          <p:nvPr>
            <p:ph idx="7" type="subTitle"/>
          </p:nvPr>
        </p:nvSpPr>
        <p:spPr>
          <a:xfrm>
            <a:off x="3818759" y="3467474"/>
            <a:ext cx="1166400" cy="440700"/>
          </a:xfrm>
          <a:prstGeom prst="rect">
            <a:avLst/>
          </a:prstGeom>
        </p:spPr>
        <p:txBody>
          <a:bodyPr anchorCtr="0" anchor="ctr" bIns="122075" lIns="122075" spcFirstLastPara="1" rIns="122075" wrap="square" tIns="122075">
            <a:noAutofit/>
          </a:bodyPr>
          <a:lstStyle/>
          <a:p>
            <a:pPr indent="0" lvl="0" marL="0" rtl="0" algn="l">
              <a:spcBef>
                <a:spcPts val="0"/>
              </a:spcBef>
              <a:spcAft>
                <a:spcPts val="0"/>
              </a:spcAft>
              <a:buNone/>
            </a:pPr>
            <a:r>
              <a:rPr lang="en" sz="1335"/>
              <a:t>3</a:t>
            </a:r>
            <a:endParaRPr sz="1335"/>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71"/>
          <p:cNvSpPr txBox="1"/>
          <p:nvPr>
            <p:ph type="title"/>
          </p:nvPr>
        </p:nvSpPr>
        <p:spPr>
          <a:xfrm>
            <a:off x="0" y="-2250"/>
            <a:ext cx="66147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Analysis : </a:t>
            </a:r>
            <a:r>
              <a:rPr lang="en"/>
              <a:t>Kernel Comparison-Velocity Calculation</a:t>
            </a:r>
            <a:endParaRPr/>
          </a:p>
        </p:txBody>
      </p:sp>
      <p:pic>
        <p:nvPicPr>
          <p:cNvPr id="834" name="Google Shape;834;p71" title="grav_velocity_compare.png"/>
          <p:cNvPicPr preferRelativeResize="0"/>
          <p:nvPr/>
        </p:nvPicPr>
        <p:blipFill>
          <a:blip r:embed="rId3">
            <a:alphaModFix/>
          </a:blip>
          <a:stretch>
            <a:fillRect/>
          </a:stretch>
        </p:blipFill>
        <p:spPr>
          <a:xfrm>
            <a:off x="1512000" y="779530"/>
            <a:ext cx="7631999" cy="4363970"/>
          </a:xfrm>
          <a:prstGeom prst="rect">
            <a:avLst/>
          </a:prstGeom>
          <a:noFill/>
          <a:ln>
            <a:noFill/>
          </a:ln>
        </p:spPr>
      </p:pic>
      <p:sp>
        <p:nvSpPr>
          <p:cNvPr id="835" name="Google Shape;835;p71"/>
          <p:cNvSpPr/>
          <p:nvPr/>
        </p:nvSpPr>
        <p:spPr>
          <a:xfrm>
            <a:off x="0" y="1670824"/>
            <a:ext cx="1512000" cy="1515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50025" lIns="50025" spcFirstLastPara="1" rIns="50025" wrap="square" tIns="50025">
            <a:noAutofit/>
          </a:bodyPr>
          <a:lstStyle/>
          <a:p>
            <a:pPr indent="0" lvl="0" marL="0" rtl="0" algn="ctr">
              <a:lnSpc>
                <a:spcPct val="90000"/>
              </a:lnSpc>
              <a:spcBef>
                <a:spcPts val="0"/>
              </a:spcBef>
              <a:spcAft>
                <a:spcPts val="0"/>
              </a:spcAft>
              <a:buNone/>
            </a:pPr>
            <a:r>
              <a:t/>
            </a:r>
            <a:endParaRPr sz="547">
              <a:solidFill>
                <a:schemeClr val="dk2"/>
              </a:solidFill>
              <a:latin typeface="Red Hat Display SemiBold"/>
              <a:ea typeface="Red Hat Display SemiBold"/>
              <a:cs typeface="Red Hat Display SemiBold"/>
              <a:sym typeface="Red Hat Display SemiBold"/>
            </a:endParaRPr>
          </a:p>
        </p:txBody>
      </p:sp>
      <p:sp>
        <p:nvSpPr>
          <p:cNvPr id="836" name="Google Shape;836;p71"/>
          <p:cNvSpPr txBox="1"/>
          <p:nvPr>
            <p:ph idx="4294967295" type="subTitle"/>
          </p:nvPr>
        </p:nvSpPr>
        <p:spPr>
          <a:xfrm>
            <a:off x="66875" y="1670825"/>
            <a:ext cx="1184700" cy="151500"/>
          </a:xfrm>
          <a:prstGeom prst="rect">
            <a:avLst/>
          </a:prstGeom>
        </p:spPr>
        <p:txBody>
          <a:bodyPr anchorCtr="0" anchor="ctr" bIns="50025" lIns="50025" spcFirstLastPara="1" rIns="50025" wrap="square" tIns="50025">
            <a:noAutofit/>
          </a:bodyPr>
          <a:lstStyle/>
          <a:p>
            <a:pPr indent="0" lvl="0" marL="0" rtl="0" algn="l">
              <a:spcBef>
                <a:spcPts val="0"/>
              </a:spcBef>
              <a:spcAft>
                <a:spcPts val="0"/>
              </a:spcAft>
              <a:buNone/>
            </a:pPr>
            <a:r>
              <a:rPr lang="en" sz="1466"/>
              <a:t>Metrics</a:t>
            </a:r>
            <a:endParaRPr sz="1466"/>
          </a:p>
        </p:txBody>
      </p:sp>
      <p:sp>
        <p:nvSpPr>
          <p:cNvPr id="837" name="Google Shape;837;p71"/>
          <p:cNvSpPr txBox="1"/>
          <p:nvPr>
            <p:ph idx="4294967295" type="body"/>
          </p:nvPr>
        </p:nvSpPr>
        <p:spPr>
          <a:xfrm>
            <a:off x="66867" y="1916766"/>
            <a:ext cx="1335300" cy="429600"/>
          </a:xfrm>
          <a:prstGeom prst="rect">
            <a:avLst/>
          </a:prstGeom>
        </p:spPr>
        <p:txBody>
          <a:bodyPr anchorCtr="0" anchor="t" bIns="50025" lIns="50025" spcFirstLastPara="1" rIns="50025" wrap="square" tIns="50025">
            <a:noAutofit/>
          </a:bodyPr>
          <a:lstStyle/>
          <a:p>
            <a:pPr indent="-113451" lvl="0" marL="150136" rtl="0" algn="l">
              <a:lnSpc>
                <a:spcPct val="100000"/>
              </a:lnSpc>
              <a:spcBef>
                <a:spcPts val="0"/>
              </a:spcBef>
              <a:spcAft>
                <a:spcPts val="0"/>
              </a:spcAft>
              <a:buSzPts val="1393"/>
              <a:buChar char="➔"/>
            </a:pPr>
            <a:r>
              <a:rPr lang="en" sz="1392"/>
              <a:t>RunTime- Ave 11 us improvement</a:t>
            </a:r>
            <a:endParaRPr sz="1392"/>
          </a:p>
          <a:p>
            <a:pPr indent="-113451" lvl="0" marL="150136" rtl="0" algn="l">
              <a:lnSpc>
                <a:spcPct val="100000"/>
              </a:lnSpc>
              <a:spcBef>
                <a:spcPts val="328"/>
              </a:spcBef>
              <a:spcAft>
                <a:spcPts val="0"/>
              </a:spcAft>
              <a:buSzPts val="1393"/>
              <a:buChar char="➔"/>
            </a:pPr>
            <a:r>
              <a:rPr lang="en" sz="1392"/>
              <a:t>Throughput 30%</a:t>
            </a:r>
            <a:endParaRPr sz="1392"/>
          </a:p>
          <a:p>
            <a:pPr indent="-113451" lvl="0" marL="150136" rtl="0" algn="l">
              <a:lnSpc>
                <a:spcPct val="100000"/>
              </a:lnSpc>
              <a:spcBef>
                <a:spcPts val="328"/>
              </a:spcBef>
              <a:spcAft>
                <a:spcPts val="0"/>
              </a:spcAft>
              <a:buSzPts val="1393"/>
              <a:buChar char="➔"/>
            </a:pPr>
            <a:r>
              <a:rPr lang="en" sz="1392"/>
              <a:t>Register Usages 3%</a:t>
            </a:r>
            <a:endParaRPr sz="1392"/>
          </a:p>
          <a:p>
            <a:pPr indent="-113451" lvl="0" marL="150136" rtl="0" algn="l">
              <a:lnSpc>
                <a:spcPct val="100000"/>
              </a:lnSpc>
              <a:spcBef>
                <a:spcPts val="328"/>
              </a:spcBef>
              <a:spcAft>
                <a:spcPts val="0"/>
              </a:spcAft>
              <a:buSzPts val="1393"/>
              <a:buChar char="➔"/>
            </a:pPr>
            <a:r>
              <a:rPr lang="en" sz="1392"/>
              <a:t>Overall Speed up 86.91%</a:t>
            </a:r>
            <a:endParaRPr sz="1392"/>
          </a:p>
        </p:txBody>
      </p:sp>
      <p:sp>
        <p:nvSpPr>
          <p:cNvPr id="838" name="Google Shape;838;p71"/>
          <p:cNvSpPr/>
          <p:nvPr/>
        </p:nvSpPr>
        <p:spPr>
          <a:xfrm>
            <a:off x="3637575" y="417700"/>
            <a:ext cx="4640700" cy="3618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Baseline:unoptimized, Target: optimized</a:t>
            </a:r>
            <a:endParaRPr sz="1000">
              <a:solidFill>
                <a:schemeClr val="dk2"/>
              </a:solidFill>
              <a:latin typeface="Red Hat Display SemiBold"/>
              <a:ea typeface="Red Hat Display SemiBold"/>
              <a:cs typeface="Red Hat Display SemiBold"/>
              <a:sym typeface="Red Hat Display SemiBold"/>
            </a:endParaRPr>
          </a:p>
        </p:txBody>
      </p:sp>
      <p:sp>
        <p:nvSpPr>
          <p:cNvPr id="839" name="Google Shape;839;p71"/>
          <p:cNvSpPr/>
          <p:nvPr/>
        </p:nvSpPr>
        <p:spPr>
          <a:xfrm>
            <a:off x="5550600" y="87675"/>
            <a:ext cx="1158300" cy="3300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40" name="Google Shape;840;p71"/>
          <p:cNvSpPr txBox="1"/>
          <p:nvPr>
            <p:ph idx="4294967295" type="subTitle"/>
          </p:nvPr>
        </p:nvSpPr>
        <p:spPr>
          <a:xfrm>
            <a:off x="5715950" y="84825"/>
            <a:ext cx="873600" cy="3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72"/>
          <p:cNvSpPr txBox="1"/>
          <p:nvPr>
            <p:ph type="title"/>
          </p:nvPr>
        </p:nvSpPr>
        <p:spPr>
          <a:xfrm>
            <a:off x="0" y="-2250"/>
            <a:ext cx="66147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Analysis : Kernel Comparison-Position Calculation</a:t>
            </a:r>
            <a:endParaRPr/>
          </a:p>
        </p:txBody>
      </p:sp>
      <p:sp>
        <p:nvSpPr>
          <p:cNvPr id="846" name="Google Shape;846;p72"/>
          <p:cNvSpPr/>
          <p:nvPr/>
        </p:nvSpPr>
        <p:spPr>
          <a:xfrm>
            <a:off x="0" y="1670824"/>
            <a:ext cx="1512000" cy="1515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50025" lIns="50025" spcFirstLastPara="1" rIns="50025" wrap="square" tIns="50025">
            <a:noAutofit/>
          </a:bodyPr>
          <a:lstStyle/>
          <a:p>
            <a:pPr indent="0" lvl="0" marL="0" rtl="0" algn="ctr">
              <a:lnSpc>
                <a:spcPct val="90000"/>
              </a:lnSpc>
              <a:spcBef>
                <a:spcPts val="0"/>
              </a:spcBef>
              <a:spcAft>
                <a:spcPts val="0"/>
              </a:spcAft>
              <a:buNone/>
            </a:pPr>
            <a:r>
              <a:t/>
            </a:r>
            <a:endParaRPr sz="547">
              <a:solidFill>
                <a:schemeClr val="dk2"/>
              </a:solidFill>
              <a:latin typeface="Red Hat Display SemiBold"/>
              <a:ea typeface="Red Hat Display SemiBold"/>
              <a:cs typeface="Red Hat Display SemiBold"/>
              <a:sym typeface="Red Hat Display SemiBold"/>
            </a:endParaRPr>
          </a:p>
        </p:txBody>
      </p:sp>
      <p:sp>
        <p:nvSpPr>
          <p:cNvPr id="847" name="Google Shape;847;p72"/>
          <p:cNvSpPr txBox="1"/>
          <p:nvPr>
            <p:ph idx="4294967295" type="subTitle"/>
          </p:nvPr>
        </p:nvSpPr>
        <p:spPr>
          <a:xfrm>
            <a:off x="66875" y="1670825"/>
            <a:ext cx="1184700" cy="151500"/>
          </a:xfrm>
          <a:prstGeom prst="rect">
            <a:avLst/>
          </a:prstGeom>
        </p:spPr>
        <p:txBody>
          <a:bodyPr anchorCtr="0" anchor="ctr" bIns="50025" lIns="50025" spcFirstLastPara="1" rIns="50025" wrap="square" tIns="50025">
            <a:noAutofit/>
          </a:bodyPr>
          <a:lstStyle/>
          <a:p>
            <a:pPr indent="0" lvl="0" marL="0" rtl="0" algn="l">
              <a:spcBef>
                <a:spcPts val="0"/>
              </a:spcBef>
              <a:spcAft>
                <a:spcPts val="0"/>
              </a:spcAft>
              <a:buNone/>
            </a:pPr>
            <a:r>
              <a:rPr lang="en" sz="1466"/>
              <a:t>Metrics</a:t>
            </a:r>
            <a:endParaRPr sz="1466"/>
          </a:p>
        </p:txBody>
      </p:sp>
      <p:sp>
        <p:nvSpPr>
          <p:cNvPr id="848" name="Google Shape;848;p72"/>
          <p:cNvSpPr txBox="1"/>
          <p:nvPr>
            <p:ph idx="4294967295" type="body"/>
          </p:nvPr>
        </p:nvSpPr>
        <p:spPr>
          <a:xfrm>
            <a:off x="66867" y="1916766"/>
            <a:ext cx="1335300" cy="429600"/>
          </a:xfrm>
          <a:prstGeom prst="rect">
            <a:avLst/>
          </a:prstGeom>
        </p:spPr>
        <p:txBody>
          <a:bodyPr anchorCtr="0" anchor="t" bIns="50025" lIns="50025" spcFirstLastPara="1" rIns="50025" wrap="square" tIns="50025">
            <a:noAutofit/>
          </a:bodyPr>
          <a:lstStyle/>
          <a:p>
            <a:pPr indent="-113451" lvl="0" marL="150136" rtl="0" algn="l">
              <a:lnSpc>
                <a:spcPct val="100000"/>
              </a:lnSpc>
              <a:spcBef>
                <a:spcPts val="0"/>
              </a:spcBef>
              <a:spcAft>
                <a:spcPts val="0"/>
              </a:spcAft>
              <a:buSzPts val="1393"/>
              <a:buChar char="➔"/>
            </a:pPr>
            <a:r>
              <a:rPr lang="en" sz="1392"/>
              <a:t>RunTime- Ave 2 us improvement</a:t>
            </a:r>
            <a:endParaRPr sz="1392"/>
          </a:p>
          <a:p>
            <a:pPr indent="-113451" lvl="0" marL="150136" rtl="0" algn="l">
              <a:lnSpc>
                <a:spcPct val="100000"/>
              </a:lnSpc>
              <a:spcBef>
                <a:spcPts val="328"/>
              </a:spcBef>
              <a:spcAft>
                <a:spcPts val="0"/>
              </a:spcAft>
              <a:buSzPts val="1393"/>
              <a:buChar char="➔"/>
            </a:pPr>
            <a:r>
              <a:rPr lang="en" sz="1392"/>
              <a:t>Throughput 3%</a:t>
            </a:r>
            <a:endParaRPr sz="1392"/>
          </a:p>
          <a:p>
            <a:pPr indent="-113451" lvl="0" marL="150136" rtl="0" algn="l">
              <a:lnSpc>
                <a:spcPct val="100000"/>
              </a:lnSpc>
              <a:spcBef>
                <a:spcPts val="328"/>
              </a:spcBef>
              <a:spcAft>
                <a:spcPts val="0"/>
              </a:spcAft>
              <a:buSzPts val="1393"/>
              <a:buChar char="➔"/>
            </a:pPr>
            <a:r>
              <a:rPr lang="en" sz="1392"/>
              <a:t>Register Usages 0%</a:t>
            </a:r>
            <a:endParaRPr sz="1392"/>
          </a:p>
          <a:p>
            <a:pPr indent="-113451" lvl="0" marL="150136" rtl="0" algn="l">
              <a:lnSpc>
                <a:spcPct val="100000"/>
              </a:lnSpc>
              <a:spcBef>
                <a:spcPts val="328"/>
              </a:spcBef>
              <a:spcAft>
                <a:spcPts val="0"/>
              </a:spcAft>
              <a:buSzPts val="1393"/>
              <a:buChar char="➔"/>
            </a:pPr>
            <a:r>
              <a:rPr lang="en" sz="1392"/>
              <a:t>Overall Speed up 83.99%</a:t>
            </a:r>
            <a:endParaRPr sz="1392"/>
          </a:p>
        </p:txBody>
      </p:sp>
      <p:pic>
        <p:nvPicPr>
          <p:cNvPr id="849" name="Google Shape;849;p72" title="grav_position_compare.png"/>
          <p:cNvPicPr preferRelativeResize="0"/>
          <p:nvPr/>
        </p:nvPicPr>
        <p:blipFill>
          <a:blip r:embed="rId3">
            <a:alphaModFix/>
          </a:blip>
          <a:stretch>
            <a:fillRect/>
          </a:stretch>
        </p:blipFill>
        <p:spPr>
          <a:xfrm>
            <a:off x="1512000" y="779541"/>
            <a:ext cx="7631999" cy="4363959"/>
          </a:xfrm>
          <a:prstGeom prst="rect">
            <a:avLst/>
          </a:prstGeom>
          <a:noFill/>
          <a:ln>
            <a:noFill/>
          </a:ln>
        </p:spPr>
      </p:pic>
      <p:sp>
        <p:nvSpPr>
          <p:cNvPr id="850" name="Google Shape;850;p72"/>
          <p:cNvSpPr/>
          <p:nvPr/>
        </p:nvSpPr>
        <p:spPr>
          <a:xfrm>
            <a:off x="3637575" y="417700"/>
            <a:ext cx="4640700" cy="3618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Baseline:unoptimized, Target: optimized</a:t>
            </a:r>
            <a:endParaRPr sz="1000">
              <a:solidFill>
                <a:schemeClr val="dk2"/>
              </a:solidFill>
              <a:latin typeface="Red Hat Display SemiBold"/>
              <a:ea typeface="Red Hat Display SemiBold"/>
              <a:cs typeface="Red Hat Display SemiBold"/>
              <a:sym typeface="Red Hat Display SemiBold"/>
            </a:endParaRPr>
          </a:p>
        </p:txBody>
      </p:sp>
      <p:sp>
        <p:nvSpPr>
          <p:cNvPr id="851" name="Google Shape;851;p72"/>
          <p:cNvSpPr/>
          <p:nvPr/>
        </p:nvSpPr>
        <p:spPr>
          <a:xfrm>
            <a:off x="5598675" y="87650"/>
            <a:ext cx="1158300" cy="3300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52" name="Google Shape;852;p72"/>
          <p:cNvSpPr txBox="1"/>
          <p:nvPr>
            <p:ph idx="4294967295" type="subTitle"/>
          </p:nvPr>
        </p:nvSpPr>
        <p:spPr>
          <a:xfrm>
            <a:off x="5764025" y="84800"/>
            <a:ext cx="873600" cy="3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73"/>
          <p:cNvSpPr txBox="1"/>
          <p:nvPr>
            <p:ph type="title"/>
          </p:nvPr>
        </p:nvSpPr>
        <p:spPr>
          <a:xfrm>
            <a:off x="0" y="-2250"/>
            <a:ext cx="4040400" cy="3510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1200"/>
              <a:t>Problem with both versions-position,velocity</a:t>
            </a:r>
            <a:endParaRPr sz="1200"/>
          </a:p>
        </p:txBody>
      </p:sp>
      <p:pic>
        <p:nvPicPr>
          <p:cNvPr id="858" name="Google Shape;858;p73" title="grav_comparison_01(1).png"/>
          <p:cNvPicPr preferRelativeResize="0"/>
          <p:nvPr/>
        </p:nvPicPr>
        <p:blipFill>
          <a:blip r:embed="rId3">
            <a:alphaModFix/>
          </a:blip>
          <a:stretch>
            <a:fillRect/>
          </a:stretch>
        </p:blipFill>
        <p:spPr>
          <a:xfrm>
            <a:off x="4322150" y="2571750"/>
            <a:ext cx="4833172" cy="2623599"/>
          </a:xfrm>
          <a:prstGeom prst="rect">
            <a:avLst/>
          </a:prstGeom>
          <a:noFill/>
          <a:ln>
            <a:noFill/>
          </a:ln>
        </p:spPr>
      </p:pic>
      <p:pic>
        <p:nvPicPr>
          <p:cNvPr id="859" name="Google Shape;859;p73" title="grav_comparison_01(2).png"/>
          <p:cNvPicPr preferRelativeResize="0"/>
          <p:nvPr/>
        </p:nvPicPr>
        <p:blipFill>
          <a:blip r:embed="rId4">
            <a:alphaModFix/>
          </a:blip>
          <a:stretch>
            <a:fillRect/>
          </a:stretch>
        </p:blipFill>
        <p:spPr>
          <a:xfrm>
            <a:off x="4310813" y="0"/>
            <a:ext cx="4833188" cy="2557875"/>
          </a:xfrm>
          <a:prstGeom prst="rect">
            <a:avLst/>
          </a:prstGeom>
          <a:noFill/>
          <a:ln>
            <a:noFill/>
          </a:ln>
        </p:spPr>
      </p:pic>
      <p:sp>
        <p:nvSpPr>
          <p:cNvPr id="860" name="Google Shape;860;p73"/>
          <p:cNvSpPr/>
          <p:nvPr/>
        </p:nvSpPr>
        <p:spPr>
          <a:xfrm>
            <a:off x="38000" y="675600"/>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861" name="Google Shape;861;p73"/>
          <p:cNvSpPr/>
          <p:nvPr/>
        </p:nvSpPr>
        <p:spPr>
          <a:xfrm>
            <a:off x="38000" y="675600"/>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62" name="Google Shape;862;p73"/>
          <p:cNvSpPr txBox="1"/>
          <p:nvPr>
            <p:ph idx="4294967295" type="subTitle"/>
          </p:nvPr>
        </p:nvSpPr>
        <p:spPr>
          <a:xfrm>
            <a:off x="38000" y="681600"/>
            <a:ext cx="1500900" cy="26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Throughput</a:t>
            </a:r>
            <a:endParaRPr/>
          </a:p>
        </p:txBody>
      </p:sp>
      <p:sp>
        <p:nvSpPr>
          <p:cNvPr id="863" name="Google Shape;863;p73"/>
          <p:cNvSpPr txBox="1"/>
          <p:nvPr>
            <p:ph idx="4294967295" type="body"/>
          </p:nvPr>
        </p:nvSpPr>
        <p:spPr>
          <a:xfrm>
            <a:off x="196059" y="1066600"/>
            <a:ext cx="1239300" cy="83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Extreme low overall throughput.</a:t>
            </a:r>
            <a:endParaRPr/>
          </a:p>
          <a:p>
            <a:pPr indent="0" lvl="0" marL="0" rtl="0" algn="l">
              <a:spcBef>
                <a:spcPts val="0"/>
              </a:spcBef>
              <a:spcAft>
                <a:spcPts val="0"/>
              </a:spcAft>
              <a:buNone/>
            </a:pPr>
            <a:r>
              <a:rPr lang="en"/>
              <a:t>Most cores are idling and do not compute any results</a:t>
            </a:r>
            <a:endParaRPr/>
          </a:p>
        </p:txBody>
      </p:sp>
      <p:sp>
        <p:nvSpPr>
          <p:cNvPr id="864" name="Google Shape;864;p73"/>
          <p:cNvSpPr/>
          <p:nvPr/>
        </p:nvSpPr>
        <p:spPr>
          <a:xfrm>
            <a:off x="1948763" y="754600"/>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865" name="Google Shape;865;p73"/>
          <p:cNvSpPr/>
          <p:nvPr/>
        </p:nvSpPr>
        <p:spPr>
          <a:xfrm>
            <a:off x="1948763" y="754600"/>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66" name="Google Shape;866;p73"/>
          <p:cNvSpPr txBox="1"/>
          <p:nvPr>
            <p:ph idx="4294967295" type="subTitle"/>
          </p:nvPr>
        </p:nvSpPr>
        <p:spPr>
          <a:xfrm>
            <a:off x="1948763" y="760600"/>
            <a:ext cx="1500900" cy="26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Warp Miss</a:t>
            </a:r>
            <a:endParaRPr/>
          </a:p>
        </p:txBody>
      </p:sp>
      <p:sp>
        <p:nvSpPr>
          <p:cNvPr id="867" name="Google Shape;867;p73"/>
          <p:cNvSpPr txBox="1"/>
          <p:nvPr>
            <p:ph idx="4294967295" type="body"/>
          </p:nvPr>
        </p:nvSpPr>
        <p:spPr>
          <a:xfrm>
            <a:off x="2106821" y="1145600"/>
            <a:ext cx="1239300" cy="83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warps are stalled. Biggest assumption is that these warps have divergence problem as they are idle in a loop. </a:t>
            </a:r>
            <a:endParaRPr/>
          </a:p>
        </p:txBody>
      </p:sp>
      <p:sp>
        <p:nvSpPr>
          <p:cNvPr id="868" name="Google Shape;868;p73"/>
          <p:cNvSpPr/>
          <p:nvPr/>
        </p:nvSpPr>
        <p:spPr>
          <a:xfrm>
            <a:off x="38000" y="351600"/>
            <a:ext cx="1158300" cy="3300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69" name="Google Shape;869;p73"/>
          <p:cNvSpPr txBox="1"/>
          <p:nvPr>
            <p:ph idx="4294967295" type="subTitle"/>
          </p:nvPr>
        </p:nvSpPr>
        <p:spPr>
          <a:xfrm>
            <a:off x="203350" y="348750"/>
            <a:ext cx="873600" cy="3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870" name="Google Shape;870;p73"/>
          <p:cNvSpPr/>
          <p:nvPr/>
        </p:nvSpPr>
        <p:spPr>
          <a:xfrm>
            <a:off x="1956088" y="424600"/>
            <a:ext cx="1158300" cy="3300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71" name="Google Shape;871;p73"/>
          <p:cNvSpPr txBox="1"/>
          <p:nvPr>
            <p:ph idx="4294967295" type="subTitle"/>
          </p:nvPr>
        </p:nvSpPr>
        <p:spPr>
          <a:xfrm>
            <a:off x="2121438" y="421750"/>
            <a:ext cx="873600" cy="3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872" name="Google Shape;872;p73"/>
          <p:cNvSpPr/>
          <p:nvPr/>
        </p:nvSpPr>
        <p:spPr>
          <a:xfrm>
            <a:off x="0" y="2968800"/>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873" name="Google Shape;873;p73"/>
          <p:cNvSpPr/>
          <p:nvPr/>
        </p:nvSpPr>
        <p:spPr>
          <a:xfrm>
            <a:off x="0" y="2968800"/>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74" name="Google Shape;874;p73"/>
          <p:cNvSpPr txBox="1"/>
          <p:nvPr>
            <p:ph idx="4294967295" type="subTitle"/>
          </p:nvPr>
        </p:nvSpPr>
        <p:spPr>
          <a:xfrm>
            <a:off x="0" y="2974800"/>
            <a:ext cx="1500900" cy="26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Memory</a:t>
            </a:r>
            <a:endParaRPr/>
          </a:p>
        </p:txBody>
      </p:sp>
      <p:sp>
        <p:nvSpPr>
          <p:cNvPr id="875" name="Google Shape;875;p73"/>
          <p:cNvSpPr txBox="1"/>
          <p:nvPr>
            <p:ph idx="4294967295" type="body"/>
          </p:nvPr>
        </p:nvSpPr>
        <p:spPr>
          <a:xfrm>
            <a:off x="158059" y="3359800"/>
            <a:ext cx="1239300" cy="83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Local memory is hardly used. Each block is accessing global memory every cycle.</a:t>
            </a:r>
            <a:endParaRPr/>
          </a:p>
        </p:txBody>
      </p:sp>
      <p:sp>
        <p:nvSpPr>
          <p:cNvPr id="876" name="Google Shape;876;p73"/>
          <p:cNvSpPr/>
          <p:nvPr/>
        </p:nvSpPr>
        <p:spPr>
          <a:xfrm>
            <a:off x="38000" y="2635950"/>
            <a:ext cx="1158300" cy="3300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77" name="Google Shape;877;p73"/>
          <p:cNvSpPr txBox="1"/>
          <p:nvPr>
            <p:ph idx="4294967295" type="subTitle"/>
          </p:nvPr>
        </p:nvSpPr>
        <p:spPr>
          <a:xfrm>
            <a:off x="203350" y="2633100"/>
            <a:ext cx="873600" cy="3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878" name="Google Shape;878;p73"/>
          <p:cNvSpPr/>
          <p:nvPr/>
        </p:nvSpPr>
        <p:spPr>
          <a:xfrm>
            <a:off x="1949100" y="3047800"/>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879" name="Google Shape;879;p73"/>
          <p:cNvSpPr/>
          <p:nvPr/>
        </p:nvSpPr>
        <p:spPr>
          <a:xfrm>
            <a:off x="1949100" y="3047800"/>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80" name="Google Shape;880;p73"/>
          <p:cNvSpPr txBox="1"/>
          <p:nvPr>
            <p:ph idx="4294967295" type="subTitle"/>
          </p:nvPr>
        </p:nvSpPr>
        <p:spPr>
          <a:xfrm>
            <a:off x="1948775" y="3042100"/>
            <a:ext cx="1500900" cy="26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Compute Usage</a:t>
            </a:r>
            <a:endParaRPr/>
          </a:p>
        </p:txBody>
      </p:sp>
      <p:sp>
        <p:nvSpPr>
          <p:cNvPr id="881" name="Google Shape;881;p73"/>
          <p:cNvSpPr txBox="1"/>
          <p:nvPr>
            <p:ph idx="4294967295" type="body"/>
          </p:nvPr>
        </p:nvSpPr>
        <p:spPr>
          <a:xfrm>
            <a:off x="2107159" y="3438800"/>
            <a:ext cx="1239300" cy="83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Extremely low peak computing power utilization. Most SMs are not filled.</a:t>
            </a:r>
            <a:endParaRPr/>
          </a:p>
        </p:txBody>
      </p:sp>
      <p:sp>
        <p:nvSpPr>
          <p:cNvPr id="882" name="Google Shape;882;p73"/>
          <p:cNvSpPr/>
          <p:nvPr/>
        </p:nvSpPr>
        <p:spPr>
          <a:xfrm>
            <a:off x="1987100" y="2714950"/>
            <a:ext cx="1158300" cy="3300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83" name="Google Shape;883;p73"/>
          <p:cNvSpPr txBox="1"/>
          <p:nvPr>
            <p:ph idx="4294967295" type="subTitle"/>
          </p:nvPr>
        </p:nvSpPr>
        <p:spPr>
          <a:xfrm>
            <a:off x="2152450" y="2712100"/>
            <a:ext cx="873600" cy="3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74"/>
          <p:cNvSpPr txBox="1"/>
          <p:nvPr>
            <p:ph type="title"/>
          </p:nvPr>
        </p:nvSpPr>
        <p:spPr>
          <a:xfrm>
            <a:off x="53925" y="-2250"/>
            <a:ext cx="6748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Performance Analysis: Ray Tracing Rendering-Comparison </a:t>
            </a:r>
            <a:endParaRPr/>
          </a:p>
        </p:txBody>
      </p:sp>
      <p:sp>
        <p:nvSpPr>
          <p:cNvPr id="889" name="Google Shape;889;p74"/>
          <p:cNvSpPr/>
          <p:nvPr/>
        </p:nvSpPr>
        <p:spPr>
          <a:xfrm>
            <a:off x="6802800" y="63588"/>
            <a:ext cx="1158300" cy="3300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890" name="Google Shape;890;p74"/>
          <p:cNvSpPr txBox="1"/>
          <p:nvPr>
            <p:ph idx="4294967295" type="subTitle"/>
          </p:nvPr>
        </p:nvSpPr>
        <p:spPr>
          <a:xfrm>
            <a:off x="6907375" y="63600"/>
            <a:ext cx="873600" cy="3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pic>
        <p:nvPicPr>
          <p:cNvPr id="891" name="Google Shape;891;p74" title="grav_sun_render_comparison.png"/>
          <p:cNvPicPr preferRelativeResize="0"/>
          <p:nvPr/>
        </p:nvPicPr>
        <p:blipFill>
          <a:blip r:embed="rId3">
            <a:alphaModFix/>
          </a:blip>
          <a:stretch>
            <a:fillRect/>
          </a:stretch>
        </p:blipFill>
        <p:spPr>
          <a:xfrm>
            <a:off x="1572100" y="457200"/>
            <a:ext cx="7571898" cy="4652324"/>
          </a:xfrm>
          <a:prstGeom prst="rect">
            <a:avLst/>
          </a:prstGeom>
          <a:noFill/>
          <a:ln>
            <a:noFill/>
          </a:ln>
        </p:spPr>
      </p:pic>
      <p:sp>
        <p:nvSpPr>
          <p:cNvPr id="892" name="Google Shape;892;p74"/>
          <p:cNvSpPr/>
          <p:nvPr/>
        </p:nvSpPr>
        <p:spPr>
          <a:xfrm>
            <a:off x="0" y="1092950"/>
            <a:ext cx="1500900" cy="25677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893" name="Google Shape;893;p74"/>
          <p:cNvSpPr/>
          <p:nvPr/>
        </p:nvSpPr>
        <p:spPr>
          <a:xfrm>
            <a:off x="0" y="1092950"/>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894" name="Google Shape;894;p74"/>
          <p:cNvSpPr txBox="1"/>
          <p:nvPr>
            <p:ph idx="4294967295" type="subTitle"/>
          </p:nvPr>
        </p:nvSpPr>
        <p:spPr>
          <a:xfrm>
            <a:off x="0" y="1098950"/>
            <a:ext cx="1500900" cy="26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Key Findings:</a:t>
            </a:r>
            <a:endParaRPr/>
          </a:p>
        </p:txBody>
      </p:sp>
      <p:sp>
        <p:nvSpPr>
          <p:cNvPr id="895" name="Google Shape;895;p74"/>
          <p:cNvSpPr txBox="1"/>
          <p:nvPr>
            <p:ph idx="4294967295" type="body"/>
          </p:nvPr>
        </p:nvSpPr>
        <p:spPr>
          <a:xfrm>
            <a:off x="158059" y="1483950"/>
            <a:ext cx="1239300" cy="83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Analysis shows that two version have </a:t>
            </a:r>
            <a:r>
              <a:rPr lang="en"/>
              <a:t>basically</a:t>
            </a:r>
            <a:r>
              <a:rPr lang="en"/>
              <a:t> no difference. </a:t>
            </a:r>
            <a:endParaRPr/>
          </a:p>
          <a:p>
            <a:pPr indent="0" lvl="0" marL="0" rtl="0" algn="l">
              <a:spcBef>
                <a:spcPts val="0"/>
              </a:spcBef>
              <a:spcAft>
                <a:spcPts val="0"/>
              </a:spcAft>
              <a:buNone/>
            </a:pPr>
            <a:r>
              <a:rPr lang="en"/>
              <a:t>The reason should be that Sun is always at the origin,as a fixed point. So the rendering kernel always need to render the frame,no matter if the program needs to read the position from file or not.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pic>
        <p:nvPicPr>
          <p:cNvPr id="900" name="Google Shape;900;p75" title="Screenshot from 2025-12-09 21-22-14.png"/>
          <p:cNvPicPr preferRelativeResize="0"/>
          <p:nvPr/>
        </p:nvPicPr>
        <p:blipFill>
          <a:blip r:embed="rId3">
            <a:alphaModFix/>
          </a:blip>
          <a:stretch>
            <a:fillRect/>
          </a:stretch>
        </p:blipFill>
        <p:spPr>
          <a:xfrm>
            <a:off x="105450" y="1570529"/>
            <a:ext cx="8839197" cy="3534530"/>
          </a:xfrm>
          <a:prstGeom prst="rect">
            <a:avLst/>
          </a:prstGeom>
          <a:noFill/>
          <a:ln>
            <a:noFill/>
          </a:ln>
        </p:spPr>
      </p:pic>
      <p:sp>
        <p:nvSpPr>
          <p:cNvPr id="901" name="Google Shape;901;p75"/>
          <p:cNvSpPr txBox="1"/>
          <p:nvPr>
            <p:ph type="title"/>
          </p:nvPr>
        </p:nvSpPr>
        <p:spPr>
          <a:xfrm>
            <a:off x="53925" y="-2250"/>
            <a:ext cx="6748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Performance Analysis: Ray Tracing Rendering-Comparison </a:t>
            </a:r>
            <a:endParaRPr/>
          </a:p>
        </p:txBody>
      </p:sp>
      <p:sp>
        <p:nvSpPr>
          <p:cNvPr id="902" name="Google Shape;902;p75"/>
          <p:cNvSpPr/>
          <p:nvPr/>
        </p:nvSpPr>
        <p:spPr>
          <a:xfrm>
            <a:off x="6646750" y="63588"/>
            <a:ext cx="1158300" cy="3300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903" name="Google Shape;903;p75"/>
          <p:cNvSpPr txBox="1"/>
          <p:nvPr>
            <p:ph idx="4294967295" type="subTitle"/>
          </p:nvPr>
        </p:nvSpPr>
        <p:spPr>
          <a:xfrm>
            <a:off x="6751325" y="63600"/>
            <a:ext cx="873600" cy="3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904" name="Google Shape;904;p75"/>
          <p:cNvSpPr/>
          <p:nvPr/>
        </p:nvSpPr>
        <p:spPr>
          <a:xfrm>
            <a:off x="105450" y="393600"/>
            <a:ext cx="2469300" cy="11787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05" name="Google Shape;905;p75"/>
          <p:cNvSpPr/>
          <p:nvPr/>
        </p:nvSpPr>
        <p:spPr>
          <a:xfrm>
            <a:off x="105450" y="393600"/>
            <a:ext cx="2469300" cy="1869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906" name="Google Shape;906;p75"/>
          <p:cNvSpPr txBox="1"/>
          <p:nvPr>
            <p:ph idx="4294967295" type="subTitle"/>
          </p:nvPr>
        </p:nvSpPr>
        <p:spPr>
          <a:xfrm>
            <a:off x="228600" y="373200"/>
            <a:ext cx="2686800" cy="20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Throughput</a:t>
            </a:r>
            <a:endParaRPr/>
          </a:p>
        </p:txBody>
      </p:sp>
      <p:sp>
        <p:nvSpPr>
          <p:cNvPr id="907" name="Google Shape;907;p75"/>
          <p:cNvSpPr txBox="1"/>
          <p:nvPr>
            <p:ph idx="4294967295" type="body"/>
          </p:nvPr>
        </p:nvSpPr>
        <p:spPr>
          <a:xfrm>
            <a:off x="228601" y="764800"/>
            <a:ext cx="2399100" cy="50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versions have great throughputs. But still don’t fully use device’s cores.</a:t>
            </a:r>
            <a:endParaRPr/>
          </a:p>
        </p:txBody>
      </p:sp>
      <p:sp>
        <p:nvSpPr>
          <p:cNvPr id="908" name="Google Shape;908;p75"/>
          <p:cNvSpPr/>
          <p:nvPr/>
        </p:nvSpPr>
        <p:spPr>
          <a:xfrm>
            <a:off x="4338050" y="403800"/>
            <a:ext cx="2681700" cy="11787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09" name="Google Shape;909;p75"/>
          <p:cNvSpPr/>
          <p:nvPr/>
        </p:nvSpPr>
        <p:spPr>
          <a:xfrm>
            <a:off x="4338050" y="403800"/>
            <a:ext cx="2681700" cy="1869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910" name="Google Shape;910;p75"/>
          <p:cNvSpPr txBox="1"/>
          <p:nvPr>
            <p:ph idx="4294967295" type="subTitle"/>
          </p:nvPr>
        </p:nvSpPr>
        <p:spPr>
          <a:xfrm>
            <a:off x="4471790" y="383400"/>
            <a:ext cx="2917800" cy="20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Compute Workload</a:t>
            </a:r>
            <a:endParaRPr/>
          </a:p>
        </p:txBody>
      </p:sp>
      <p:sp>
        <p:nvSpPr>
          <p:cNvPr id="911" name="Google Shape;911;p75"/>
          <p:cNvSpPr txBox="1"/>
          <p:nvPr>
            <p:ph idx="4294967295" type="body"/>
          </p:nvPr>
        </p:nvSpPr>
        <p:spPr>
          <a:xfrm>
            <a:off x="4479351" y="731863"/>
            <a:ext cx="2399100" cy="50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versions have at least 85% workload on the SMs that are being used. Indicating good resource usages.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76"/>
          <p:cNvSpPr txBox="1"/>
          <p:nvPr>
            <p:ph type="title"/>
          </p:nvPr>
        </p:nvSpPr>
        <p:spPr>
          <a:xfrm>
            <a:off x="228600" y="169392"/>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Benchmark</a:t>
            </a:r>
            <a:endParaRPr/>
          </a:p>
        </p:txBody>
      </p:sp>
      <p:sp>
        <p:nvSpPr>
          <p:cNvPr id="917" name="Google Shape;917;p76"/>
          <p:cNvSpPr/>
          <p:nvPr/>
        </p:nvSpPr>
        <p:spPr>
          <a:xfrm>
            <a:off x="1699288" y="169408"/>
            <a:ext cx="1546800" cy="4407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122075" lIns="122075" spcFirstLastPara="1" rIns="122075" wrap="square" tIns="122075">
            <a:noAutofit/>
          </a:bodyPr>
          <a:lstStyle/>
          <a:p>
            <a:pPr indent="0" lvl="0" marL="0" rtl="0" algn="l">
              <a:lnSpc>
                <a:spcPct val="90000"/>
              </a:lnSpc>
              <a:spcBef>
                <a:spcPts val="0"/>
              </a:spcBef>
              <a:spcAft>
                <a:spcPts val="0"/>
              </a:spcAft>
              <a:buNone/>
            </a:pPr>
            <a:r>
              <a:t/>
            </a:r>
            <a:endParaRPr sz="1335">
              <a:solidFill>
                <a:schemeClr val="lt1"/>
              </a:solidFill>
              <a:latin typeface="Red Hat Display SemiBold"/>
              <a:ea typeface="Red Hat Display SemiBold"/>
              <a:cs typeface="Red Hat Display SemiBold"/>
              <a:sym typeface="Red Hat Display SemiBold"/>
            </a:endParaRPr>
          </a:p>
        </p:txBody>
      </p:sp>
      <p:sp>
        <p:nvSpPr>
          <p:cNvPr id="918" name="Google Shape;918;p76"/>
          <p:cNvSpPr txBox="1"/>
          <p:nvPr>
            <p:ph idx="4294967295" type="subTitle"/>
          </p:nvPr>
        </p:nvSpPr>
        <p:spPr>
          <a:xfrm>
            <a:off x="1920084" y="169424"/>
            <a:ext cx="1166400" cy="440700"/>
          </a:xfrm>
          <a:prstGeom prst="rect">
            <a:avLst/>
          </a:prstGeom>
        </p:spPr>
        <p:txBody>
          <a:bodyPr anchorCtr="0" anchor="t" bIns="122075" lIns="122075" spcFirstLastPara="1" rIns="122075" wrap="square" tIns="122075">
            <a:noAutofit/>
          </a:bodyPr>
          <a:lstStyle/>
          <a:p>
            <a:pPr indent="0" lvl="0" marL="0" rtl="0" algn="l">
              <a:spcBef>
                <a:spcPts val="0"/>
              </a:spcBef>
              <a:spcAft>
                <a:spcPts val="0"/>
              </a:spcAft>
              <a:buNone/>
            </a:pPr>
            <a:r>
              <a:rPr lang="en" sz="1335"/>
              <a:t>3</a:t>
            </a:r>
            <a:endParaRPr sz="1335"/>
          </a:p>
        </p:txBody>
      </p:sp>
      <p:sp>
        <p:nvSpPr>
          <p:cNvPr id="919" name="Google Shape;919;p76"/>
          <p:cNvSpPr/>
          <p:nvPr/>
        </p:nvSpPr>
        <p:spPr>
          <a:xfrm>
            <a:off x="714750" y="2065750"/>
            <a:ext cx="2321700" cy="6531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126225" lIns="126225" spcFirstLastPara="1" rIns="126225" wrap="square" tIns="126225">
            <a:noAutofit/>
          </a:bodyPr>
          <a:lstStyle/>
          <a:p>
            <a:pPr indent="0" lvl="0" marL="0" rtl="0" algn="ctr">
              <a:lnSpc>
                <a:spcPct val="90000"/>
              </a:lnSpc>
              <a:spcBef>
                <a:spcPts val="0"/>
              </a:spcBef>
              <a:spcAft>
                <a:spcPts val="0"/>
              </a:spcAft>
              <a:buNone/>
            </a:pPr>
            <a:r>
              <a:t/>
            </a:r>
            <a:endParaRPr sz="1380">
              <a:solidFill>
                <a:schemeClr val="dk2"/>
              </a:solidFill>
              <a:latin typeface="Red Hat Display SemiBold"/>
              <a:ea typeface="Red Hat Display SemiBold"/>
              <a:cs typeface="Red Hat Display SemiBold"/>
              <a:sym typeface="Red Hat Display SemiBold"/>
            </a:endParaRPr>
          </a:p>
        </p:txBody>
      </p:sp>
      <p:sp>
        <p:nvSpPr>
          <p:cNvPr id="920" name="Google Shape;920;p76"/>
          <p:cNvSpPr txBox="1"/>
          <p:nvPr>
            <p:ph idx="4294967295" type="subTitle"/>
          </p:nvPr>
        </p:nvSpPr>
        <p:spPr>
          <a:xfrm>
            <a:off x="1032150" y="2241850"/>
            <a:ext cx="1805100" cy="300900"/>
          </a:xfrm>
          <a:prstGeom prst="rect">
            <a:avLst/>
          </a:prstGeom>
        </p:spPr>
        <p:txBody>
          <a:bodyPr anchorCtr="0" anchor="ctr" bIns="126225" lIns="126225" spcFirstLastPara="1" rIns="126225" wrap="square" tIns="126225">
            <a:noAutofit/>
          </a:bodyPr>
          <a:lstStyle/>
          <a:p>
            <a:pPr indent="0" lvl="0" marL="0" rtl="0" algn="l">
              <a:lnSpc>
                <a:spcPct val="90000"/>
              </a:lnSpc>
              <a:spcBef>
                <a:spcPts val="0"/>
              </a:spcBef>
              <a:spcAft>
                <a:spcPts val="0"/>
              </a:spcAft>
              <a:buNone/>
            </a:pPr>
            <a:r>
              <a:rPr lang="en" sz="1932"/>
              <a:t>GPU  vs. CPU</a:t>
            </a:r>
            <a:endParaRPr sz="1932"/>
          </a:p>
        </p:txBody>
      </p:sp>
      <p:sp>
        <p:nvSpPr>
          <p:cNvPr id="921" name="Google Shape;921;p76"/>
          <p:cNvSpPr txBox="1"/>
          <p:nvPr>
            <p:ph idx="4294967295" type="body"/>
          </p:nvPr>
        </p:nvSpPr>
        <p:spPr>
          <a:xfrm>
            <a:off x="537750" y="2885850"/>
            <a:ext cx="2793900" cy="90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Iteration through 1 year,compute time</a:t>
            </a:r>
            <a:endParaRPr/>
          </a:p>
          <a:p>
            <a:pPr indent="0" lvl="0" marL="274320" rtl="0" algn="l">
              <a:spcBef>
                <a:spcPts val="0"/>
              </a:spcBef>
              <a:spcAft>
                <a:spcPts val="0"/>
              </a:spcAft>
              <a:buNone/>
            </a:pPr>
            <a:r>
              <a:rPr lang="en"/>
              <a:t>100 Planets: </a:t>
            </a:r>
            <a:endParaRPr/>
          </a:p>
          <a:p>
            <a:pPr indent="0" lvl="0" marL="274320" rtl="0" algn="l">
              <a:spcBef>
                <a:spcPts val="0"/>
              </a:spcBef>
              <a:spcAft>
                <a:spcPts val="0"/>
              </a:spcAft>
              <a:buNone/>
            </a:pPr>
            <a:r>
              <a:rPr lang="en"/>
              <a:t>CPU:</a:t>
            </a:r>
            <a:r>
              <a:rPr lang="en" sz="1050">
                <a:solidFill>
                  <a:srgbClr val="6A9955"/>
                </a:solidFill>
                <a:highlight>
                  <a:srgbClr val="1F1F1F"/>
                </a:highlight>
                <a:latin typeface="Courier New"/>
                <a:ea typeface="Courier New"/>
                <a:cs typeface="Courier New"/>
                <a:sym typeface="Courier New"/>
              </a:rPr>
              <a:t>2.5 minutes</a:t>
            </a:r>
            <a:endParaRPr sz="1050">
              <a:solidFill>
                <a:srgbClr val="6A9955"/>
              </a:solidFill>
              <a:highlight>
                <a:srgbClr val="1F1F1F"/>
              </a:highlight>
              <a:latin typeface="Courier New"/>
              <a:ea typeface="Courier New"/>
              <a:cs typeface="Courier New"/>
              <a:sym typeface="Courier New"/>
            </a:endParaRPr>
          </a:p>
          <a:p>
            <a:pPr indent="0" lvl="0" marL="274320" rtl="0" algn="l">
              <a:spcBef>
                <a:spcPts val="0"/>
              </a:spcBef>
              <a:spcAft>
                <a:spcPts val="0"/>
              </a:spcAft>
              <a:buNone/>
            </a:pPr>
            <a:r>
              <a:rPr lang="en"/>
              <a:t>GPU:</a:t>
            </a:r>
            <a:r>
              <a:rPr lang="en" sz="1050">
                <a:solidFill>
                  <a:srgbClr val="6A9955"/>
                </a:solidFill>
                <a:highlight>
                  <a:srgbClr val="1F1F1F"/>
                </a:highlight>
                <a:latin typeface="Courier New"/>
                <a:ea typeface="Courier New"/>
                <a:cs typeface="Courier New"/>
                <a:sym typeface="Courier New"/>
              </a:rPr>
              <a:t>0.97 minutes</a:t>
            </a:r>
            <a:endParaRPr/>
          </a:p>
          <a:p>
            <a:pPr indent="0" lvl="0" marL="274320" rtl="0" algn="l">
              <a:spcBef>
                <a:spcPts val="0"/>
              </a:spcBef>
              <a:spcAft>
                <a:spcPts val="0"/>
              </a:spcAft>
              <a:buNone/>
            </a:pPr>
            <a:r>
              <a:rPr lang="en"/>
              <a:t>1000 Planets:</a:t>
            </a:r>
            <a:endParaRPr/>
          </a:p>
          <a:p>
            <a:pPr indent="0" lvl="0" marL="274320" rtl="0" algn="l">
              <a:spcBef>
                <a:spcPts val="0"/>
              </a:spcBef>
              <a:spcAft>
                <a:spcPts val="0"/>
              </a:spcAft>
              <a:buNone/>
            </a:pPr>
            <a:r>
              <a:rPr lang="en"/>
              <a:t>CPU:</a:t>
            </a:r>
            <a:r>
              <a:rPr lang="en" sz="1050">
                <a:solidFill>
                  <a:srgbClr val="6A9955"/>
                </a:solidFill>
                <a:highlight>
                  <a:srgbClr val="1F1F1F"/>
                </a:highlight>
                <a:latin typeface="Courier New"/>
                <a:ea typeface="Courier New"/>
                <a:cs typeface="Courier New"/>
                <a:sym typeface="Courier New"/>
              </a:rPr>
              <a:t>2.54 hours</a:t>
            </a:r>
            <a:endParaRPr sz="1050">
              <a:solidFill>
                <a:srgbClr val="6A9955"/>
              </a:solidFill>
              <a:highlight>
                <a:srgbClr val="1F1F1F"/>
              </a:highlight>
              <a:latin typeface="Courier New"/>
              <a:ea typeface="Courier New"/>
              <a:cs typeface="Courier New"/>
              <a:sym typeface="Courier New"/>
            </a:endParaRPr>
          </a:p>
          <a:p>
            <a:pPr indent="0" lvl="0" marL="274320" rtl="0" algn="l">
              <a:spcBef>
                <a:spcPts val="0"/>
              </a:spcBef>
              <a:spcAft>
                <a:spcPts val="0"/>
              </a:spcAft>
              <a:buNone/>
            </a:pPr>
            <a:r>
              <a:rPr lang="en"/>
              <a:t>GPU:</a:t>
            </a:r>
            <a:r>
              <a:rPr lang="en" sz="1050">
                <a:solidFill>
                  <a:srgbClr val="6A9955"/>
                </a:solidFill>
                <a:highlight>
                  <a:srgbClr val="1F1F1F"/>
                </a:highlight>
                <a:latin typeface="Courier New"/>
                <a:ea typeface="Courier New"/>
                <a:cs typeface="Courier New"/>
                <a:sym typeface="Courier New"/>
              </a:rPr>
              <a:t>1.56 minutes</a:t>
            </a:r>
            <a:endParaRPr sz="1050">
              <a:solidFill>
                <a:srgbClr val="6A9955"/>
              </a:solidFill>
              <a:highlight>
                <a:srgbClr val="1F1F1F"/>
              </a:highlight>
              <a:latin typeface="Courier New"/>
              <a:ea typeface="Courier New"/>
              <a:cs typeface="Courier New"/>
              <a:sym typeface="Courier New"/>
            </a:endParaRPr>
          </a:p>
          <a:p>
            <a:pPr indent="0" lvl="0" marL="274320" rtl="0" algn="l">
              <a:spcBef>
                <a:spcPts val="0"/>
              </a:spcBef>
              <a:spcAft>
                <a:spcPts val="0"/>
              </a:spcAft>
              <a:buNone/>
            </a:pPr>
            <a:r>
              <a:rPr lang="en"/>
              <a:t>10000 Planets:</a:t>
            </a:r>
            <a:endParaRPr/>
          </a:p>
          <a:p>
            <a:pPr indent="0" lvl="0" marL="274320" rtl="0" algn="l">
              <a:spcBef>
                <a:spcPts val="0"/>
              </a:spcBef>
              <a:spcAft>
                <a:spcPts val="0"/>
              </a:spcAft>
              <a:buNone/>
            </a:pPr>
            <a:r>
              <a:rPr lang="en"/>
              <a:t>CPU:</a:t>
            </a:r>
            <a:r>
              <a:rPr lang="en" sz="1050">
                <a:solidFill>
                  <a:srgbClr val="6A9955"/>
                </a:solidFill>
                <a:highlight>
                  <a:srgbClr val="1F1F1F"/>
                </a:highlight>
                <a:latin typeface="Courier New"/>
                <a:ea typeface="Courier New"/>
                <a:cs typeface="Courier New"/>
                <a:sym typeface="Courier New"/>
              </a:rPr>
              <a:t>31.57 hours</a:t>
            </a:r>
            <a:endParaRPr/>
          </a:p>
          <a:p>
            <a:pPr indent="0" lvl="0" marL="274320" rtl="0" algn="l">
              <a:spcBef>
                <a:spcPts val="0"/>
              </a:spcBef>
              <a:spcAft>
                <a:spcPts val="0"/>
              </a:spcAft>
              <a:buNone/>
            </a:pPr>
            <a:r>
              <a:rPr lang="en"/>
              <a:t>GPU:</a:t>
            </a:r>
            <a:r>
              <a:rPr lang="en" sz="1050">
                <a:solidFill>
                  <a:srgbClr val="6A9955"/>
                </a:solidFill>
                <a:highlight>
                  <a:srgbClr val="1F1F1F"/>
                </a:highlight>
                <a:latin typeface="Courier New"/>
                <a:ea typeface="Courier New"/>
                <a:cs typeface="Courier New"/>
                <a:sym typeface="Courier New"/>
              </a:rPr>
              <a:t>1.24Hour</a:t>
            </a:r>
            <a:endParaRPr sz="1050">
              <a:solidFill>
                <a:srgbClr val="6A9955"/>
              </a:solidFill>
              <a:highlight>
                <a:srgbClr val="1F1F1F"/>
              </a:highlight>
              <a:latin typeface="Courier New"/>
              <a:ea typeface="Courier New"/>
              <a:cs typeface="Courier New"/>
              <a:sym typeface="Courier New"/>
            </a:endParaRPr>
          </a:p>
          <a:p>
            <a:pPr indent="0" lvl="0" marL="274320" rtl="0" algn="l">
              <a:spcBef>
                <a:spcPts val="0"/>
              </a:spcBef>
              <a:spcAft>
                <a:spcPts val="0"/>
              </a:spcAft>
              <a:buNone/>
            </a:pPr>
            <a:r>
              <a:rPr lang="en"/>
              <a:t>1M Planets:</a:t>
            </a:r>
            <a:endParaRPr/>
          </a:p>
          <a:p>
            <a:pPr indent="0" lvl="0" marL="274320" rtl="0" algn="l">
              <a:spcBef>
                <a:spcPts val="0"/>
              </a:spcBef>
              <a:spcAft>
                <a:spcPts val="0"/>
              </a:spcAft>
              <a:buNone/>
            </a:pPr>
            <a:r>
              <a:rPr lang="en"/>
              <a:t>CPU: Dead</a:t>
            </a:r>
            <a:endParaRPr/>
          </a:p>
          <a:p>
            <a:pPr indent="0" lvl="0" marL="274320" rtl="0" algn="l">
              <a:spcBef>
                <a:spcPts val="0"/>
              </a:spcBef>
              <a:spcAft>
                <a:spcPts val="0"/>
              </a:spcAft>
              <a:buNone/>
            </a:pPr>
            <a:r>
              <a:rPr lang="en"/>
              <a:t>GPU: </a:t>
            </a:r>
            <a:r>
              <a:rPr lang="en" sz="1050">
                <a:solidFill>
                  <a:srgbClr val="6A9955"/>
                </a:solidFill>
                <a:highlight>
                  <a:srgbClr val="1F1F1F"/>
                </a:highlight>
                <a:latin typeface="Courier New"/>
                <a:ea typeface="Courier New"/>
                <a:cs typeface="Courier New"/>
                <a:sym typeface="Courier New"/>
              </a:rPr>
              <a:t>28.2 hours</a:t>
            </a:r>
            <a:endParaRPr sz="1050">
              <a:solidFill>
                <a:srgbClr val="6A9955"/>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p:txBody>
      </p:sp>
      <p:sp>
        <p:nvSpPr>
          <p:cNvPr id="922" name="Google Shape;922;p76"/>
          <p:cNvSpPr/>
          <p:nvPr/>
        </p:nvSpPr>
        <p:spPr>
          <a:xfrm>
            <a:off x="5502475" y="2065750"/>
            <a:ext cx="2321700" cy="6531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126225" lIns="126225" spcFirstLastPara="1" rIns="126225" wrap="square" tIns="126225">
            <a:noAutofit/>
          </a:bodyPr>
          <a:lstStyle/>
          <a:p>
            <a:pPr indent="0" lvl="0" marL="0" rtl="0" algn="ctr">
              <a:lnSpc>
                <a:spcPct val="90000"/>
              </a:lnSpc>
              <a:spcBef>
                <a:spcPts val="0"/>
              </a:spcBef>
              <a:spcAft>
                <a:spcPts val="0"/>
              </a:spcAft>
              <a:buNone/>
            </a:pPr>
            <a:r>
              <a:t/>
            </a:r>
            <a:endParaRPr sz="1380">
              <a:solidFill>
                <a:schemeClr val="dk2"/>
              </a:solidFill>
              <a:latin typeface="Red Hat Display SemiBold"/>
              <a:ea typeface="Red Hat Display SemiBold"/>
              <a:cs typeface="Red Hat Display SemiBold"/>
              <a:sym typeface="Red Hat Display SemiBold"/>
            </a:endParaRPr>
          </a:p>
        </p:txBody>
      </p:sp>
      <p:sp>
        <p:nvSpPr>
          <p:cNvPr id="923" name="Google Shape;923;p76"/>
          <p:cNvSpPr txBox="1"/>
          <p:nvPr>
            <p:ph idx="4294967295" type="subTitle"/>
          </p:nvPr>
        </p:nvSpPr>
        <p:spPr>
          <a:xfrm>
            <a:off x="5760775" y="2241850"/>
            <a:ext cx="1805100" cy="300900"/>
          </a:xfrm>
          <a:prstGeom prst="rect">
            <a:avLst/>
          </a:prstGeom>
        </p:spPr>
        <p:txBody>
          <a:bodyPr anchorCtr="0" anchor="ctr" bIns="126225" lIns="126225" spcFirstLastPara="1" rIns="126225" wrap="square" tIns="126225">
            <a:noAutofit/>
          </a:bodyPr>
          <a:lstStyle/>
          <a:p>
            <a:pPr indent="0" lvl="0" marL="0" rtl="0" algn="l">
              <a:lnSpc>
                <a:spcPct val="90000"/>
              </a:lnSpc>
              <a:spcBef>
                <a:spcPts val="0"/>
              </a:spcBef>
              <a:spcAft>
                <a:spcPts val="0"/>
              </a:spcAft>
              <a:buNone/>
            </a:pPr>
            <a:r>
              <a:rPr lang="en" sz="1932"/>
              <a:t>optimized vs. </a:t>
            </a:r>
            <a:r>
              <a:rPr lang="en" sz="1932"/>
              <a:t>unoptimized</a:t>
            </a:r>
            <a:endParaRPr sz="1932"/>
          </a:p>
        </p:txBody>
      </p:sp>
      <p:sp>
        <p:nvSpPr>
          <p:cNvPr id="924" name="Google Shape;924;p76"/>
          <p:cNvSpPr txBox="1"/>
          <p:nvPr>
            <p:ph idx="4294967295" type="body"/>
          </p:nvPr>
        </p:nvSpPr>
        <p:spPr>
          <a:xfrm>
            <a:off x="5375100" y="2995300"/>
            <a:ext cx="2667600" cy="83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Iteration through 1 year,</a:t>
            </a:r>
            <a:r>
              <a:rPr lang="en"/>
              <a:t>compute time</a:t>
            </a:r>
            <a:endParaRPr/>
          </a:p>
          <a:p>
            <a:pPr indent="0" lvl="0" marL="0" rtl="0" algn="l">
              <a:spcBef>
                <a:spcPts val="0"/>
              </a:spcBef>
              <a:spcAft>
                <a:spcPts val="0"/>
              </a:spcAft>
              <a:buNone/>
            </a:pPr>
            <a:r>
              <a:rPr lang="en"/>
              <a:t>100 Planets:</a:t>
            </a:r>
            <a:endParaRPr/>
          </a:p>
          <a:p>
            <a:pPr indent="0" lvl="0" marL="0" rtl="0" algn="l">
              <a:spcBef>
                <a:spcPts val="0"/>
              </a:spcBef>
              <a:spcAft>
                <a:spcPts val="0"/>
              </a:spcAft>
              <a:buNone/>
            </a:pPr>
            <a:r>
              <a:rPr lang="en"/>
              <a:t>OPTIMIZED:</a:t>
            </a:r>
            <a:r>
              <a:rPr lang="en" sz="1050">
                <a:solidFill>
                  <a:srgbClr val="6A9955"/>
                </a:solidFill>
                <a:highlight>
                  <a:srgbClr val="1F1F1F"/>
                </a:highlight>
                <a:latin typeface="Courier New"/>
                <a:ea typeface="Courier New"/>
                <a:cs typeface="Courier New"/>
                <a:sym typeface="Courier New"/>
              </a:rPr>
              <a:t>0.6 minutes</a:t>
            </a:r>
            <a:endParaRPr sz="1050">
              <a:solidFill>
                <a:srgbClr val="6A9955"/>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rPr lang="en"/>
              <a:t>UNOPTIMIZED::</a:t>
            </a:r>
            <a:r>
              <a:rPr lang="en" sz="1050">
                <a:solidFill>
                  <a:srgbClr val="6A9955"/>
                </a:solidFill>
                <a:highlight>
                  <a:srgbClr val="1F1F1F"/>
                </a:highlight>
                <a:latin typeface="Courier New"/>
                <a:ea typeface="Courier New"/>
                <a:cs typeface="Courier New"/>
                <a:sym typeface="Courier New"/>
              </a:rPr>
              <a:t>0.97 minutes</a:t>
            </a:r>
            <a:endParaRPr/>
          </a:p>
          <a:p>
            <a:pPr indent="0" lvl="0" marL="0" rtl="0" algn="l">
              <a:spcBef>
                <a:spcPts val="0"/>
              </a:spcBef>
              <a:spcAft>
                <a:spcPts val="0"/>
              </a:spcAft>
              <a:buNone/>
            </a:pPr>
            <a:r>
              <a:rPr lang="en"/>
              <a:t>1000 Planets:</a:t>
            </a:r>
            <a:endParaRPr/>
          </a:p>
          <a:p>
            <a:pPr indent="0" lvl="0" marL="0" rtl="0" algn="l">
              <a:spcBef>
                <a:spcPts val="0"/>
              </a:spcBef>
              <a:spcAft>
                <a:spcPts val="0"/>
              </a:spcAft>
              <a:buNone/>
            </a:pPr>
            <a:r>
              <a:rPr lang="en"/>
              <a:t>OPTIMIZED:</a:t>
            </a:r>
            <a:r>
              <a:rPr lang="en" sz="1050">
                <a:solidFill>
                  <a:srgbClr val="6A9955"/>
                </a:solidFill>
                <a:highlight>
                  <a:srgbClr val="1F1F1F"/>
                </a:highlight>
                <a:latin typeface="Courier New"/>
                <a:ea typeface="Courier New"/>
                <a:cs typeface="Courier New"/>
                <a:sym typeface="Courier New"/>
              </a:rPr>
              <a:t>1.36min</a:t>
            </a:r>
            <a:endParaRPr/>
          </a:p>
          <a:p>
            <a:pPr indent="0" lvl="0" marL="0" rtl="0" algn="l">
              <a:spcBef>
                <a:spcPts val="0"/>
              </a:spcBef>
              <a:spcAft>
                <a:spcPts val="0"/>
              </a:spcAft>
              <a:buNone/>
            </a:pPr>
            <a:r>
              <a:rPr lang="en"/>
              <a:t>UNOPTIMIZED:</a:t>
            </a:r>
            <a:r>
              <a:rPr lang="en" sz="1050">
                <a:solidFill>
                  <a:srgbClr val="6A9955"/>
                </a:solidFill>
                <a:highlight>
                  <a:srgbClr val="1F1F1F"/>
                </a:highlight>
                <a:latin typeface="Courier New"/>
                <a:ea typeface="Courier New"/>
                <a:cs typeface="Courier New"/>
                <a:sym typeface="Courier New"/>
              </a:rPr>
              <a:t>1.56 minutes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77"/>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What we’ve learned from this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we hope to do to keep improving this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we didn’t do well, and what we’ve done well</a:t>
            </a:r>
            <a:endParaRPr/>
          </a:p>
        </p:txBody>
      </p:sp>
      <p:sp>
        <p:nvSpPr>
          <p:cNvPr id="930" name="Google Shape;930;p77"/>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Conclusion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78"/>
          <p:cNvSpPr/>
          <p:nvPr/>
        </p:nvSpPr>
        <p:spPr>
          <a:xfrm>
            <a:off x="182113" y="1702888"/>
            <a:ext cx="27627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936" name="Google Shape;936;p78"/>
          <p:cNvSpPr/>
          <p:nvPr/>
        </p:nvSpPr>
        <p:spPr>
          <a:xfrm>
            <a:off x="3145463" y="1702888"/>
            <a:ext cx="27627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937" name="Google Shape;937;p78"/>
          <p:cNvSpPr/>
          <p:nvPr/>
        </p:nvSpPr>
        <p:spPr>
          <a:xfrm>
            <a:off x="6105288" y="1702888"/>
            <a:ext cx="27627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938" name="Google Shape;938;p78"/>
          <p:cNvSpPr txBox="1"/>
          <p:nvPr>
            <p:ph idx="4294967295" type="subTitle"/>
          </p:nvPr>
        </p:nvSpPr>
        <p:spPr>
          <a:xfrm>
            <a:off x="304288" y="1705038"/>
            <a:ext cx="2439900" cy="26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can we improve?</a:t>
            </a:r>
            <a:endParaRPr/>
          </a:p>
        </p:txBody>
      </p:sp>
      <p:sp>
        <p:nvSpPr>
          <p:cNvPr id="939" name="Google Shape;939;p78"/>
          <p:cNvSpPr txBox="1"/>
          <p:nvPr>
            <p:ph idx="4294967295" type="subTitle"/>
          </p:nvPr>
        </p:nvSpPr>
        <p:spPr>
          <a:xfrm>
            <a:off x="3267638" y="1705038"/>
            <a:ext cx="2439900" cy="26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have we learned</a:t>
            </a:r>
            <a:endParaRPr/>
          </a:p>
        </p:txBody>
      </p:sp>
      <p:sp>
        <p:nvSpPr>
          <p:cNvPr id="940" name="Google Shape;940;p78"/>
          <p:cNvSpPr txBox="1"/>
          <p:nvPr>
            <p:ph idx="4294967295" type="subTitle"/>
          </p:nvPr>
        </p:nvSpPr>
        <p:spPr>
          <a:xfrm>
            <a:off x="6266688" y="1667063"/>
            <a:ext cx="2439900" cy="26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future</a:t>
            </a:r>
            <a:endParaRPr/>
          </a:p>
        </p:txBody>
      </p:sp>
      <p:sp>
        <p:nvSpPr>
          <p:cNvPr id="941" name="Google Shape;941;p78"/>
          <p:cNvSpPr txBox="1"/>
          <p:nvPr>
            <p:ph idx="4294967295" type="body"/>
          </p:nvPr>
        </p:nvSpPr>
        <p:spPr>
          <a:xfrm>
            <a:off x="3267638" y="2152250"/>
            <a:ext cx="2439900" cy="939000"/>
          </a:xfrm>
          <a:prstGeom prst="rect">
            <a:avLst/>
          </a:prstGeom>
        </p:spPr>
        <p:txBody>
          <a:bodyPr anchorCtr="0" anchor="t" bIns="91425" lIns="0" spcFirstLastPara="1" rIns="91425" wrap="square" tIns="0">
            <a:spAutoFit/>
          </a:bodyPr>
          <a:lstStyle/>
          <a:p>
            <a:pPr indent="-109220" lvl="0" marL="274320" rtl="0" algn="l">
              <a:lnSpc>
                <a:spcPct val="100000"/>
              </a:lnSpc>
              <a:spcBef>
                <a:spcPts val="0"/>
              </a:spcBef>
              <a:spcAft>
                <a:spcPts val="0"/>
              </a:spcAft>
              <a:buSzPts val="1000"/>
              <a:buChar char="➔"/>
            </a:pPr>
            <a:r>
              <a:rPr lang="en"/>
              <a:t>Bottleneck of CUDA program</a:t>
            </a:r>
            <a:endParaRPr/>
          </a:p>
          <a:p>
            <a:pPr indent="-109220" lvl="0" marL="274320" rtl="0" algn="l">
              <a:lnSpc>
                <a:spcPct val="100000"/>
              </a:lnSpc>
              <a:spcBef>
                <a:spcPts val="600"/>
              </a:spcBef>
              <a:spcAft>
                <a:spcPts val="0"/>
              </a:spcAft>
              <a:buSzPts val="1000"/>
              <a:buChar char="➔"/>
            </a:pPr>
            <a:r>
              <a:rPr lang="en"/>
              <a:t>How to use Nsight tools</a:t>
            </a:r>
            <a:endParaRPr/>
          </a:p>
          <a:p>
            <a:pPr indent="-109220" lvl="0" marL="274320" rtl="0" algn="l">
              <a:lnSpc>
                <a:spcPct val="100000"/>
              </a:lnSpc>
              <a:spcBef>
                <a:spcPts val="600"/>
              </a:spcBef>
              <a:spcAft>
                <a:spcPts val="0"/>
              </a:spcAft>
              <a:buSzPts val="1000"/>
              <a:buChar char="➔"/>
            </a:pPr>
            <a:r>
              <a:rPr lang="en"/>
              <a:t>Handle divergence</a:t>
            </a:r>
            <a:endParaRPr/>
          </a:p>
          <a:p>
            <a:pPr indent="0" lvl="0" marL="0" rtl="0" algn="l">
              <a:lnSpc>
                <a:spcPct val="100000"/>
              </a:lnSpc>
              <a:spcBef>
                <a:spcPts val="600"/>
              </a:spcBef>
              <a:spcAft>
                <a:spcPts val="600"/>
              </a:spcAft>
              <a:buNone/>
            </a:pPr>
            <a:r>
              <a:t/>
            </a:r>
            <a:endParaRPr/>
          </a:p>
        </p:txBody>
      </p:sp>
      <p:sp>
        <p:nvSpPr>
          <p:cNvPr id="942" name="Google Shape;942;p78"/>
          <p:cNvSpPr txBox="1"/>
          <p:nvPr>
            <p:ph idx="4294967295" type="body"/>
          </p:nvPr>
        </p:nvSpPr>
        <p:spPr>
          <a:xfrm>
            <a:off x="304288" y="2152250"/>
            <a:ext cx="2439900" cy="785100"/>
          </a:xfrm>
          <a:prstGeom prst="rect">
            <a:avLst/>
          </a:prstGeom>
        </p:spPr>
        <p:txBody>
          <a:bodyPr anchorCtr="0" anchor="t" bIns="91425" lIns="91425" spcFirstLastPara="1" rIns="91425" wrap="square" tIns="91425">
            <a:noAutofit/>
          </a:bodyPr>
          <a:lstStyle/>
          <a:p>
            <a:pPr indent="-102870" lvl="0" marL="274320" rtl="0" algn="l">
              <a:lnSpc>
                <a:spcPct val="100000"/>
              </a:lnSpc>
              <a:spcBef>
                <a:spcPts val="0"/>
              </a:spcBef>
              <a:spcAft>
                <a:spcPts val="0"/>
              </a:spcAft>
              <a:buSzPts val="900"/>
              <a:buChar char="➔"/>
            </a:pPr>
            <a:r>
              <a:rPr lang="en"/>
              <a:t>Need to drastically increase grid size. SMs need to be saturated in order to fetch instructions more efficiently</a:t>
            </a:r>
            <a:endParaRPr/>
          </a:p>
          <a:p>
            <a:pPr indent="-102870" lvl="0" marL="274320" rtl="0" algn="l">
              <a:lnSpc>
                <a:spcPct val="100000"/>
              </a:lnSpc>
              <a:spcBef>
                <a:spcPts val="600"/>
              </a:spcBef>
              <a:spcAft>
                <a:spcPts val="0"/>
              </a:spcAft>
              <a:buSzPts val="900"/>
              <a:buChar char="➔"/>
            </a:pPr>
            <a:r>
              <a:rPr lang="en"/>
              <a:t>Still need to figure out how to use more registers, and make the program use more local memory than accessing global memory to reduce latency</a:t>
            </a:r>
            <a:endParaRPr/>
          </a:p>
          <a:p>
            <a:pPr indent="-102870" lvl="0" marL="274320" rtl="0" algn="l">
              <a:lnSpc>
                <a:spcPct val="100000"/>
              </a:lnSpc>
              <a:spcBef>
                <a:spcPts val="600"/>
              </a:spcBef>
              <a:spcAft>
                <a:spcPts val="0"/>
              </a:spcAft>
              <a:buSzPts val="900"/>
              <a:buChar char="➔"/>
            </a:pPr>
            <a:r>
              <a:rPr lang="en"/>
              <a:t>Still need to fix divergence problem</a:t>
            </a:r>
            <a:endParaRPr/>
          </a:p>
          <a:p>
            <a:pPr indent="0" lvl="0" marL="0" rtl="0" algn="l">
              <a:lnSpc>
                <a:spcPct val="100000"/>
              </a:lnSpc>
              <a:spcBef>
                <a:spcPts val="600"/>
              </a:spcBef>
              <a:spcAft>
                <a:spcPts val="600"/>
              </a:spcAft>
              <a:buNone/>
            </a:pPr>
            <a:r>
              <a:t/>
            </a:r>
            <a:endParaRPr/>
          </a:p>
        </p:txBody>
      </p:sp>
      <p:sp>
        <p:nvSpPr>
          <p:cNvPr id="943" name="Google Shape;943;p78"/>
          <p:cNvSpPr txBox="1"/>
          <p:nvPr>
            <p:ph idx="4294967295" type="body"/>
          </p:nvPr>
        </p:nvSpPr>
        <p:spPr>
          <a:xfrm>
            <a:off x="6230988" y="2152250"/>
            <a:ext cx="2439900" cy="785100"/>
          </a:xfrm>
          <a:prstGeom prst="rect">
            <a:avLst/>
          </a:prstGeom>
        </p:spPr>
        <p:txBody>
          <a:bodyPr anchorCtr="0" anchor="t" bIns="91425" lIns="91425" spcFirstLastPara="1" rIns="91425" wrap="square" tIns="91425">
            <a:noAutofit/>
          </a:bodyPr>
          <a:lstStyle/>
          <a:p>
            <a:pPr indent="-102870" lvl="0" marL="274320" rtl="0" algn="l">
              <a:lnSpc>
                <a:spcPct val="100000"/>
              </a:lnSpc>
              <a:spcBef>
                <a:spcPts val="0"/>
              </a:spcBef>
              <a:spcAft>
                <a:spcPts val="0"/>
              </a:spcAft>
              <a:buSzPts val="900"/>
              <a:buChar char="➔"/>
            </a:pPr>
            <a:r>
              <a:rPr lang="en"/>
              <a:t>Use more complicated ray tracing platform, such as Nvidia Optix</a:t>
            </a:r>
            <a:endParaRPr/>
          </a:p>
          <a:p>
            <a:pPr indent="-102870" lvl="0" marL="274320" rtl="0" algn="l">
              <a:lnSpc>
                <a:spcPct val="100000"/>
              </a:lnSpc>
              <a:spcBef>
                <a:spcPts val="600"/>
              </a:spcBef>
              <a:spcAft>
                <a:spcPts val="0"/>
              </a:spcAft>
              <a:buSzPts val="900"/>
              <a:buChar char="➔"/>
            </a:pPr>
            <a:r>
              <a:rPr lang="en"/>
              <a:t>Replace Sun with a black hole, and render the frame with truth black hole simulation</a:t>
            </a:r>
            <a:endParaRPr/>
          </a:p>
          <a:p>
            <a:pPr indent="0" lvl="0" marL="0" rtl="0" algn="l">
              <a:lnSpc>
                <a:spcPct val="100000"/>
              </a:lnSpc>
              <a:spcBef>
                <a:spcPts val="600"/>
              </a:spcBef>
              <a:spcAft>
                <a:spcPts val="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79"/>
          <p:cNvSpPr txBox="1"/>
          <p:nvPr>
            <p:ph type="title"/>
          </p:nvPr>
        </p:nvSpPr>
        <p:spPr>
          <a:xfrm>
            <a:off x="654025" y="505150"/>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References</a:t>
            </a:r>
            <a:endParaRPr/>
          </a:p>
        </p:txBody>
      </p:sp>
      <p:sp>
        <p:nvSpPr>
          <p:cNvPr id="949" name="Google Shape;949;p79"/>
          <p:cNvSpPr txBox="1"/>
          <p:nvPr/>
        </p:nvSpPr>
        <p:spPr>
          <a:xfrm>
            <a:off x="602875" y="1176250"/>
            <a:ext cx="7014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1"/>
                </a:solidFill>
                <a:highlight>
                  <a:schemeClr val="dk1"/>
                </a:highlight>
              </a:rPr>
              <a:t>“Unleashing the Power of NVIDIA Ampere Architecture with NVIDIA Nsight Developer Tools.” </a:t>
            </a:r>
            <a:r>
              <a:rPr i="1" lang="en" sz="1500">
                <a:solidFill>
                  <a:schemeClr val="lt1"/>
                </a:solidFill>
                <a:highlight>
                  <a:schemeClr val="dk1"/>
                </a:highlight>
              </a:rPr>
              <a:t>NVIDIA Technical Blog</a:t>
            </a:r>
            <a:r>
              <a:rPr lang="en" sz="1500">
                <a:solidFill>
                  <a:schemeClr val="lt1"/>
                </a:solidFill>
                <a:highlight>
                  <a:schemeClr val="dk1"/>
                </a:highlight>
              </a:rPr>
              <a:t>, 14 May 2020, https://developer.nvidia.com/blog/unleashing-power-of-nvidia-ampere-architecture-with-nsight-developer-tools/.</a:t>
            </a:r>
            <a:endParaRPr>
              <a:solidFill>
                <a:schemeClr val="lt1"/>
              </a:solidFill>
              <a:highlight>
                <a:schemeClr val="dk1"/>
              </a:highlight>
            </a:endParaRPr>
          </a:p>
        </p:txBody>
      </p:sp>
      <p:sp>
        <p:nvSpPr>
          <p:cNvPr id="950" name="Google Shape;950;p79"/>
          <p:cNvSpPr txBox="1"/>
          <p:nvPr/>
        </p:nvSpPr>
        <p:spPr>
          <a:xfrm>
            <a:off x="602875" y="2316050"/>
            <a:ext cx="6768900" cy="9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500">
                <a:solidFill>
                  <a:schemeClr val="lt1"/>
                </a:solidFill>
              </a:rPr>
              <a:t>“Using Nsight Compute to Inspect Your Kernels.” </a:t>
            </a:r>
            <a:r>
              <a:rPr i="1" lang="en" sz="1500">
                <a:solidFill>
                  <a:schemeClr val="lt1"/>
                </a:solidFill>
              </a:rPr>
              <a:t>NVIDIA Technical Blog</a:t>
            </a:r>
            <a:r>
              <a:rPr lang="en" sz="1500">
                <a:solidFill>
                  <a:schemeClr val="lt1"/>
                </a:solidFill>
              </a:rPr>
              <a:t>, 28 Aug. 2024, developer.nvidia.com/blog/using-nsight-compute-to-inspect-your-kernels. </a:t>
            </a:r>
            <a:endParaRPr sz="1500">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80"/>
          <p:cNvSpPr txBox="1"/>
          <p:nvPr>
            <p:ph type="title"/>
          </p:nvPr>
        </p:nvSpPr>
        <p:spPr>
          <a:xfrm>
            <a:off x="3108900" y="1801500"/>
            <a:ext cx="2503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